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TITLE</a:t>
            </a:r>
          </a:p>
          <a:p/>
          <a:p>
            <a:r>
              <a:t>Welcome everyone. Today I'm presenting LLM Wiki — a working implementation of Andrej Karpathy's vision for AI-powered knowledge management in research.</a:t>
            </a:r>
          </a:p>
          <a:p/>
          <a:p>
            <a:r>
              <a:t>Key message: instead of manually maintaining a research wiki (which humans inevitably abandon), we let AI do the bookkeeping while humans stay in control of what goes in.</a:t>
            </a:r>
          </a:p>
          <a:p/>
          <a:p>
            <a:r>
              <a:t>The system has three clean layers:</a:t>
            </a:r>
          </a:p>
          <a:p>
            <a:r>
              <a:t>  • Raw Sources — immutable papers, HTML pages, spreadsheets that you add; the AI never modifies these</a:t>
            </a:r>
          </a:p>
          <a:p>
            <a:r>
              <a:t>  • Wiki Layer — LLM-generated entity pages with cross-references; the AI owns and maintains this layer entirely</a:t>
            </a:r>
          </a:p>
          <a:p>
            <a:r>
              <a:t>  • Schema / Config — the CLAUDE.md file that tells the AI how to structure everything</a:t>
            </a:r>
          </a:p>
          <a:p/>
          <a:p>
            <a:r>
              <a:t>Over the next four slides we'll see why this matters, how it's built, and a live demo.</a:t>
            </a:r>
          </a:p>
          <a:p/>
          <a:p>
            <a:r>
              <a:t>Timing: ~1.5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THE PROBLEM</a:t>
            </a:r>
          </a:p>
          <a:p/>
          <a:p>
            <a:r>
              <a:t>Every researcher and engineer faces this problem: we read papers, take notes, bookmark articles — but the knowledge stays scattered. Traditional wikis exist but nobody maintains them because the maintenance burden exceeds the perceived value.</a:t>
            </a:r>
          </a:p>
          <a:p/>
          <a:p>
            <a:r>
              <a:t>Karpathy's key insight, inspired by Vannevar Bush's 1945 Memex paper, is simple: LLMs can be the maintenance layer. They don't tire of updating cross-references, don't forget to add citations, and can touch multiple files simultaneously.</a:t>
            </a:r>
          </a:p>
          <a:p/>
          <a:p>
            <a:r>
              <a:t>The three-layer model separates concerns cleanly:</a:t>
            </a:r>
          </a:p>
          <a:p>
            <a:r>
              <a:t>  • Raw Sources: humans curate what goes in — the AI never modifies these</a:t>
            </a:r>
          </a:p>
          <a:p>
            <a:r>
              <a:t>  • Wiki Layer: the AI owns and maintains this — entity pages, links, summaries</a:t>
            </a:r>
          </a:p>
          <a:p>
            <a:r>
              <a:t>  • Schema: the config file (CLAUDE.md) that tells the AI how to structure everything</a:t>
            </a:r>
          </a:p>
          <a:p/>
          <a:p>
            <a:r>
              <a:t>The result: a wiki that actually stays current because the maintenance cost drops to near zero.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ARCHITECTURE</a:t>
            </a:r>
          </a:p>
          <a:p/>
          <a:p>
            <a:r>
              <a:t>The architecture is elegant. Three workflows the AI runs:</a:t>
            </a:r>
          </a:p>
          <a:p/>
          <a:p>
            <a:r>
              <a:t>INGEST: when you add a new source file, the AI reads it, extracts key concepts, creates or updates entity pages, and adds cross-references. Each concept gets its own markdown file.</a:t>
            </a:r>
          </a:p>
          <a:p/>
          <a:p>
            <a:r>
              <a:t>QUERY: when you ask a question via the UI, the AI searches the relevant wiki pages, synthesizes an answer with citations, and can file valuable new insights back into the wiki.</a:t>
            </a:r>
          </a:p>
          <a:p/>
          <a:p>
            <a:r>
              <a:t>LINT: periodically, the AI runs health checks — finding orphan pages (nothing links to them), missing pages (referenced with [[brackets]] but not created), contradictions between sources, and stale information.</a:t>
            </a:r>
          </a:p>
          <a:p/>
          <a:p>
            <a:r>
              <a:t>Entity pages follow a consistent six-section format:</a:t>
            </a:r>
          </a:p>
          <a:p>
            <a:r>
              <a:t>  Definition · Summary · Explanation · Related Concepts · Sources · Contradictions</a:t>
            </a:r>
          </a:p>
          <a:p/>
          <a:p>
            <a:r>
              <a:t>The Sources section always cites paper, author, and page/section. Contradictions explicitly document when different sources disagree — this helps researchers understand how the field has evolved.</a:t>
            </a:r>
          </a:p>
          <a:p/>
          <a:p>
            <a:r>
              <a:t>Six file formats are supported with full text extraction (PDF, TXT, HTML) or best-effort extraction (PPTX, DOCX, XLSX).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4: IMPLEMENTATION</a:t>
            </a:r>
          </a:p>
          <a:p/>
          <a:p>
            <a:r>
              <a:t>The system works with both Claude Code CLI and GitHub Copilot Chat.</a:t>
            </a:r>
          </a:p>
          <a:p/>
          <a:p>
            <a:r>
              <a:t>WIKI SKILLS (orange = Claude / blue = Copilot) — the core wiki workflow:</a:t>
            </a:r>
          </a:p>
          <a:p>
            <a:r>
              <a:t>• compile-papers — reads everything in /raw and creates wiki pages from scratch</a:t>
            </a:r>
          </a:p>
          <a:p>
            <a:r>
              <a:t>• sync-wiki — use when you add new papers; detects what's new, updates without clobbering</a:t>
            </a:r>
          </a:p>
          <a:p>
            <a:r>
              <a:t>• audit-wiki — run every ~20 pages to catch orphans, missing links, contradictions</a:t>
            </a:r>
          </a:p>
          <a:p>
            <a:r>
              <a:t>• reset-wiki — wipe wiki for a fresh start with new topic area</a:t>
            </a:r>
          </a:p>
          <a:p>
            <a:r>
              <a:t>• launch-wiki-ui — starts the Streamlit web app locally</a:t>
            </a:r>
          </a:p>
          <a:p>
            <a:r>
              <a:t>• stop-wiki-ui — stops the running Streamlit process</a:t>
            </a:r>
          </a:p>
          <a:p/>
          <a:p>
            <a:r>
              <a:t>REPO MAINTENANCE (purple, both tools) — separate from wiki operations:</a:t>
            </a:r>
          </a:p>
          <a:p>
            <a:r>
              <a:t>• sync-docs — keeps README, GitHub Pages, and copilot-instructions in sync after code changes</a:t>
            </a:r>
          </a:p>
          <a:p>
            <a:r>
              <a:t>• run-maintenance — full health check: runs tests, verifies skill registration, checks wiki + git state</a:t>
            </a:r>
          </a:p>
          <a:p>
            <a:r>
              <a:t>• regenerate-presentation — rebuilds demo videos and this deck; detects changed scripts via git</a:t>
            </a:r>
          </a:p>
          <a:p/>
          <a:p>
            <a:r>
              <a:t>GitHub Copilot Chat equivalents (same skill files, natural language — no slash prefix):</a:t>
            </a:r>
          </a:p>
          <a:p>
            <a:r>
              <a:t>• Compile Papers to Wiki, Sync Wiki from Raw, Audit Wiki, Reset Wiki, Launch Wiki UI, Stop Wiki UI</a:t>
            </a:r>
          </a:p>
          <a:p>
            <a:r>
              <a:t>• Sync Docs, Run Maintenance, Regenerate Presentation</a:t>
            </a:r>
          </a:p>
          <a:p/>
          <a:p>
            <a:r>
              <a:t>The Streamlit Query UI is a multi-provider web app:</a:t>
            </a:r>
          </a:p>
          <a:p>
            <a:r>
              <a:t>  • Supports Anthropic, OpenAI, Google, Mistral, Cohere — enter any model ID + API key</a:t>
            </a:r>
          </a:p>
          <a:p>
            <a:r>
              <a:t>  • Answers grounded strictly in wiki content (no hallucination outside wiki)</a:t>
            </a:r>
          </a:p>
          <a:p>
            <a:r>
              <a:t>  • API key lives only in browser session memory — never written to disk</a:t>
            </a:r>
          </a:p>
          <a:p>
            <a:r>
              <a:t>  • Explicit "No information found" when a topic isn't in the wiki — you always know your boundaries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5: DEMO</a:t>
            </a:r>
          </a:p>
          <a:p/>
          <a:p>
            <a:r>
              <a:t>[CLICK EACH VIDEO TO PLAY — both are embedded in the presentation]</a:t>
            </a:r>
          </a:p>
          <a:p/>
          <a:p>
            <a:r>
              <a:t>TERMINAL DEMO covers:</a:t>
            </a:r>
          </a:p>
          <a:p>
            <a:r>
              <a:t>  1. Claude Code CLI startup</a:t>
            </a:r>
          </a:p>
          <a:p>
            <a:r>
              <a:t>  2. /compile-papers — scanning 9 /raw sources, creating 37 entity pages</a:t>
            </a:r>
          </a:p>
          <a:p>
            <a:r>
              <a:t>  3. /sync-wiki — all 9 sources already compiled; wiki is up to date</a:t>
            </a:r>
          </a:p>
          <a:p>
            <a:r>
              <a:t>  4. /audit-wiki — 37 pages, 252 links resolved, 0 orphans, 0 missing, 0 contradictions</a:t>
            </a:r>
          </a:p>
          <a:p>
            <a:r>
              <a:t>  5. GitHub Copilot Chat equivalents (@workspace /Compile Papers to Wiki + /Launch Wiki UI)</a:t>
            </a:r>
          </a:p>
          <a:p/>
          <a:p>
            <a:r>
              <a:t>UI DEMO covers:</a:t>
            </a:r>
          </a:p>
          <a:p>
            <a:r>
              <a:t>  1. Settings screen — entering model ID and API key (happy path)</a:t>
            </a:r>
          </a:p>
          <a:p>
            <a:r>
              <a:t>  2. Settings error — invalid API key format is caught immediately</a:t>
            </a:r>
          </a:p>
          <a:p>
            <a:r>
              <a:t>  3. Empty wiki warning — clear instruction to run /compile-papers first</a:t>
            </a:r>
          </a:p>
          <a:p>
            <a:r>
              <a:t>  4. Happy path query — "What is self-attention?" → cited answer from wiki</a:t>
            </a:r>
          </a:p>
          <a:p>
            <a:r>
              <a:t>  5. Not-found error — "What is a diffusion model?" → explicit signal + how to add it</a:t>
            </a:r>
          </a:p>
          <a:p/>
          <a:p>
            <a:r>
              <a:t>Key talking points:</a:t>
            </a:r>
          </a:p>
          <a:p>
            <a:r>
              <a:t>  • Terminal: minutes from raw papers to 37 interconnected wiki pages</a:t>
            </a:r>
          </a:p>
          <a:p>
            <a:r>
              <a:t>  • UI: the "not found" response is a feature, not a bug — you always know your wiki's boundaries</a:t>
            </a:r>
          </a:p>
          <a:p>
            <a:r>
              <a:t>  • Both tools share the same wiki files — no duplication</a:t>
            </a:r>
          </a:p>
          <a:p>
            <a:r>
              <a:t>  • Every change is git-versioned — safe to collaborate</a:t>
            </a:r>
          </a:p>
          <a:p/>
          <a:p>
            <a:r>
              <a:t>After demo: "This is available today. Fork the repo, drop in your papers, run /compile-papers. Your wiki starts growing immediately."</a:t>
            </a:r>
          </a:p>
          <a:p/>
          <a:p>
            <a:r>
              <a:t>Timing: ~2 minutes + demo playback.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hyperlink" Target="https://gist.github.com/karpathy/442a6bf555914893e9891c11519de94f" TargetMode="External"/><Relationship Id="rId8" Type="http://schemas.openxmlformats.org/officeDocument/2006/relationships/hyperlink" Target="https://github.com/dev-enthusiast-84/llm-wiki" TargetMode="External"/><Relationship Id="rId9" Type="http://schemas.openxmlformats.org/officeDocument/2006/relationships/hyperlink" Target="https://dev-enthusiast-84.github.io/llm-wiki/" TargetMode="Externa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0C1C"/>
            </a:gs>
            <a:gs pos="100000">
              <a:srgbClr val="0C163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0"/>
            <a:ext cx="50292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315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0" b="1">
                <a:solidFill>
                  <a:srgbClr val="FFFFFF"/>
                </a:solidFill>
                <a:latin typeface="Calibri"/>
              </a:defRPr>
            </a:pPr>
            <a:r>
              <a:t>LLM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4D4EE"/>
                </a:solidFill>
                <a:latin typeface="Calibri"/>
              </a:defRPr>
            </a:pPr>
            <a:r>
              <a:t>Karpathy's Knowledge Architecture for AI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69164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313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Calibri"/>
              </a:defRPr>
            </a:pPr>
            <a:r>
              <a:t>AI-maintained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794760"/>
            <a:ext cx="169164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38313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Human-curated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169164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8313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Always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82AC"/>
                </a:solidFill>
                <a:latin typeface="Calibri"/>
              </a:defRPr>
            </a:pPr>
            <a:r>
              <a:t>Inspired by Andrej Karpathy  ·  gist.github.com/karpathy/442a6bf...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005840"/>
            <a:ext cx="3520440" cy="5440680"/>
          </a:xfrm>
          <a:prstGeom prst="rect">
            <a:avLst/>
          </a:prstGeom>
          <a:solidFill>
            <a:srgbClr val="1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11556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982A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54480"/>
            <a:ext cx="3154680" cy="1143000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554480"/>
            <a:ext cx="5029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16459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RAW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084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Papers · HTML · PPTX · DOCX ·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69748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982A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063240"/>
            <a:ext cx="3154680" cy="1143000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3063240"/>
            <a:ext cx="50292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8" y="31546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WIKI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5935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Entity pages · [[links]] ·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420624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982A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4572000"/>
            <a:ext cx="3154680" cy="1143000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4572000"/>
            <a:ext cx="50292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46634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SCHEMA /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51023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CLAUDE.md · Conventions ·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Knowledge Management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82A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57800" cy="1207008"/>
          </a:xfrm>
          <a:prstGeom prst="roundRect">
            <a:avLst/>
          </a:prstGeom>
          <a:solidFill>
            <a:srgbClr val="16244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Knowledge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Hundreds of papers, articles, and docs — impossible to track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82112"/>
            <a:ext cx="5257800" cy="1207008"/>
          </a:xfrm>
          <a:prstGeom prst="roundRect">
            <a:avLst/>
          </a:prstGeom>
          <a:solidFill>
            <a:srgbClr val="16244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Manual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417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Wikis die because nobody updates cross-references or fixes stale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35424"/>
            <a:ext cx="5257800" cy="1207008"/>
          </a:xfrm>
          <a:prstGeom prst="roundRect">
            <a:avLst/>
          </a:prstGeom>
          <a:solidFill>
            <a:srgbClr val="16244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268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Scattered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Key ideas live in separate notebooks, tabs, and memory — never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82AC"/>
                </a:solidFill>
                <a:latin typeface="Calibri"/>
              </a:defRPr>
            </a:pPr>
            <a:r>
              <a:t>KARPATHY'S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257800" cy="173736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56816"/>
            <a:ext cx="4937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"LLMs don't get bored.</a:t>
            </a:r>
            <a:br/>
            <a:r>
              <a:t>They don't forget to update a cross-reference."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D4EE"/>
                </a:solidFill>
                <a:latin typeface="Calibri"/>
              </a:defRPr>
            </a:pPr>
            <a:r>
              <a:t>Three-layer model: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029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Raw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Immutable — curated by humans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73168"/>
            <a:ext cx="5029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47731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Wiki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731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LLM-owned — maintained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40096"/>
            <a:ext cx="5029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53400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400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Config — conventions &amp;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0350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982AC"/>
                </a:solidFill>
                <a:latin typeface="Calibri"/>
              </a:defRPr>
            </a:pPr>
            <a:r>
              <a:t>Inspired by Vannevar Bush's Memex (1945) — the original vision for associative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Three Layers. Three Workflows.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463040"/>
            <a:ext cx="3401568" cy="260604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" y="1463040"/>
            <a:ext cx="340156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591056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4EE"/>
                </a:solidFill>
                <a:latin typeface="Calibri"/>
              </a:defRPr>
            </a:pPr>
            <a:r>
              <a:t>Add a source → extract</a:t>
            </a:r>
            <a:br/>
            <a:r>
              <a:t>concepts → update pages</a:t>
            </a:r>
            <a:br/>
            <a:r>
              <a:t>→ add cross-references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8788" y="246888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982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463040"/>
            <a:ext cx="3401568" cy="260604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3692" y="1463040"/>
            <a:ext cx="340156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692" y="1591056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6572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4EE"/>
                </a:solidFill>
                <a:latin typeface="Calibri"/>
              </a:defRPr>
            </a:pPr>
            <a:r>
              <a:t>Search relevant pages</a:t>
            </a:r>
            <a:br/>
            <a:r>
              <a:t>→ synthesize answer</a:t>
            </a:r>
            <a:br/>
            <a:r>
              <a:t>→ file new discoveries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0124" y="246888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982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5028" y="1463040"/>
            <a:ext cx="3401568" cy="260604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5028" y="1463040"/>
            <a:ext cx="340156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5028" y="1591056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8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4EE"/>
                </a:solidFill>
                <a:latin typeface="Calibri"/>
              </a:defRPr>
            </a:pPr>
            <a:r>
              <a:t>Find orphan pages, gaps,</a:t>
            </a:r>
            <a:br/>
            <a:r>
              <a:t>contradictions, and</a:t>
            </a:r>
            <a:br/>
            <a:r>
              <a:t>stale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82AC"/>
                </a:solidFill>
                <a:latin typeface="Calibri"/>
              </a:defRPr>
            </a:pPr>
            <a:r>
              <a:t>ENTITY PAGE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Related Concepts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Contradictions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5780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82AC"/>
                </a:solidFill>
                <a:latin typeface="Calibri"/>
              </a:defRPr>
            </a:pPr>
            <a:r>
              <a:t>SOURCE FORMATS  (full text extraction)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PDF 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TXT 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HTML  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PPTX  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DOCX  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XLSX 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Works Where You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230368" cy="406908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23036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5230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CLAUDE CODE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WIKI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/compile-papers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2002536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Extract concepts from all /raw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/sync-wiki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340864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Incremental update from new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91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/audit-wiki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679192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Quality check — orphans, contradictions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/reset-wiki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3017520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Wipe wiki for a fresh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5584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/launch-wiki-ui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35584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Start Streamlit query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941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/stop-wiki-ui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3694176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Stop the running Streamlit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4956048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422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REPO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urier New"/>
              </a:defRPr>
            </a:pPr>
            <a:r>
              <a:t>/sync-docs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2" y="4343400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Sync README, GitHub Pages, sub-READMEs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8172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urier New"/>
              </a:defRPr>
            </a:pPr>
            <a:r>
              <a:t>/run-maintenance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9192" y="468172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Run tests, verify skills, git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00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urier New"/>
              </a:defRPr>
            </a:pPr>
            <a:r>
              <a:t>/regenerate-presentation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5020056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Rebuild demo videos and PPTX deck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71600"/>
            <a:ext cx="5230368" cy="406908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371600"/>
            <a:ext cx="523036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435608"/>
            <a:ext cx="5230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GITHUB COPILOT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8105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WIKI 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00253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t>Compile Papers to Wiki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2002536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Extract from all /raw 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34086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t>Sync Wiki from Raw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2340864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Incremental update from new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6791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t>Audit Wiki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2679192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Quality check — orphans, contradictions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01752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t>Reset Wiki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3017520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Wipe wiki for a fresh 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35584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t>Launch Wiki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9952" y="3355848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Start Streamlit query interface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69417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t>Stop Wiki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9952" y="3694176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Stop the running Streamlit 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4069080"/>
            <a:ext cx="4956048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1422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REPO MAINTENANCE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3434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urier New"/>
              </a:defRPr>
            </a:pPr>
            <a:r>
              <a:t>Sync Docs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9952" y="4343400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Sync README and documentation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6817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urier New"/>
              </a:defRPr>
            </a:pPr>
            <a:r>
              <a:t>Run Maintenance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9952" y="4681728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Run tests, verify skills, git health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0200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urier New"/>
              </a:defRPr>
            </a:pPr>
            <a:r>
              <a:t>Regenerate 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9952" y="5020056"/>
            <a:ext cx="2761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Rebuild demo videos and PPTX deck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532120"/>
            <a:ext cx="11201400" cy="987552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5532120"/>
            <a:ext cx="64008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6235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STREAMLIT QUERY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0350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82AC"/>
                </a:solidFill>
                <a:latin typeface="Calibri"/>
              </a:defRPr>
            </a:pPr>
            <a:r>
              <a:t>Multi-provider · Grounded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D4EE"/>
                </a:solidFill>
                <a:latin typeface="Calibri"/>
              </a:defRPr>
            </a:pPr>
            <a:r>
              <a:t>· Multi-provider Q&amp;A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6035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82AC"/>
                </a:solidFill>
                <a:latin typeface="Calibri"/>
              </a:defRPr>
            </a:pPr>
            <a:r>
              <a:t>Anthropic · OpenAI · Google · Mistral · Cohere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D4EE"/>
                </a:solidFill>
                <a:latin typeface="Calibri"/>
              </a:defRPr>
            </a:pPr>
            <a:r>
              <a:t>· Wiki-grounded answers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6035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82AC"/>
                </a:solidFill>
                <a:latin typeface="Calibri"/>
              </a:defRPr>
            </a:pPr>
            <a:r>
              <a:t>No hallucination outside wiki content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D4EE"/>
                </a:solidFill>
                <a:latin typeface="Calibri"/>
              </a:defRPr>
            </a:pPr>
            <a:r>
              <a:t>· API key + model validation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6035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82AC"/>
                </a:solidFill>
                <a:latin typeface="Calibri"/>
              </a:defRPr>
            </a:pPr>
            <a:r>
              <a:t>Session memory — never saved to disk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D4EE"/>
                </a:solidFill>
                <a:latin typeface="Calibri"/>
              </a:defRPr>
            </a:pPr>
            <a:r>
              <a:t>· Explicit 'not found'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6035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82AC"/>
                </a:solidFill>
                <a:latin typeface="Calibri"/>
              </a:defRPr>
            </a:pPr>
            <a:r>
              <a:t>Clear signal when topic is outside wiki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0C1C"/>
            </a:gs>
            <a:gs pos="100000">
              <a:srgbClr val="050A2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See It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erminal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371600"/>
            <a:ext cx="534924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212079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Terminal Skills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41263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82AC"/>
                </a:solidFill>
                <a:latin typeface="Calibri"/>
              </a:defRPr>
            </a:pPr>
            <a:r>
              <a:t>compile-papers  ·  sync-wiki  ·  audit-wiki  ·  Copilot (compile + launch-ui)</a:t>
            </a:r>
          </a:p>
        </p:txBody>
      </p:sp>
      <p:pic>
        <p:nvPicPr>
          <p:cNvPr id="7" name="ui-dem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5080" y="1371600"/>
            <a:ext cx="534924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212079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Wiki Query UI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541263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82AC"/>
                </a:solidFill>
                <a:latin typeface="Calibri"/>
              </a:defRPr>
            </a:pPr>
            <a:r>
              <a:t>settings  ·  happy-path query  ·  empty wiki  ·  not-found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5989320"/>
            <a:ext cx="1993392" cy="384048"/>
          </a:xfrm>
          <a:prstGeom prst="roundRect">
            <a:avLst/>
          </a:prstGeom>
          <a:solidFill>
            <a:srgbClr val="1B12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6044184"/>
            <a:ext cx="19933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  <a:hlinkClick r:id="rId7"/>
              </a:rPr>
              <a:t>↗  Karpathy's Gist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41848" y="5989320"/>
            <a:ext cx="1444752" cy="384048"/>
          </a:xfrm>
          <a:prstGeom prst="roundRect">
            <a:avLst/>
          </a:prstGeom>
          <a:solidFill>
            <a:srgbClr val="01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6044184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  <a:latin typeface="Calibri"/>
                <a:hlinkClick r:id="rId8"/>
              </a:rPr>
              <a:t>↗  Git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989320"/>
            <a:ext cx="1444752" cy="384048"/>
          </a:xfrm>
          <a:prstGeom prst="roundRect">
            <a:avLst/>
          </a:prstGeom>
          <a:solidFill>
            <a:srgbClr val="0325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6044184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  <a:hlinkClick r:id="rId9"/>
              </a:rPr>
              <a:t>↗  Live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