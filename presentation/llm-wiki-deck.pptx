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— SLIDE 1: TITLE</a:t>
            </a:r>
          </a:p>
          <a:p/>
          <a:p>
            <a:r>
              <a:t>Welcome everyone. Today I'm presenting LLM Wiki — a working implementation of Andrej Karpathy's vision for AI-powered knowledge management in research.</a:t>
            </a:r>
          </a:p>
          <a:p/>
          <a:p>
            <a:r>
              <a:t>Key message: instead of manually maintaining a research wiki (which humans inevitably abandon), we let AI do the bookkeeping while humans stay in control of what goes in.</a:t>
            </a:r>
          </a:p>
          <a:p/>
          <a:p>
            <a:r>
              <a:t>The system has three clean layers:</a:t>
            </a:r>
          </a:p>
          <a:p>
            <a:r>
              <a:t>  • Raw Sources — immutable papers, HTML pages, spreadsheets that you add; the AI never modifies these</a:t>
            </a:r>
          </a:p>
          <a:p>
            <a:r>
              <a:t>  • Wiki Layer — LLM-generated entity pages with cross-references; the AI owns and maintains this layer entirely</a:t>
            </a:r>
          </a:p>
          <a:p>
            <a:r>
              <a:t>  • Schema / Config — the CLAUDE.md file that tells the AI how to structure everything</a:t>
            </a:r>
          </a:p>
          <a:p/>
          <a:p>
            <a:r>
              <a:t>Over the next four slides we'll see why this matters, how it's built, and a live demo.</a:t>
            </a:r>
          </a:p>
          <a:p/>
          <a:p>
            <a:r>
              <a:t>Timing: ~1.5 minutes on this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— SLIDE 2: THE PROBLEM</a:t>
            </a:r>
          </a:p>
          <a:p/>
          <a:p>
            <a:r>
              <a:t>Every researcher and engineer faces this problem: we read papers, take notes, bookmark articles — but the knowledge stays scattered. Traditional wikis exist but nobody maintains them because the maintenance burden exceeds the perceived value.</a:t>
            </a:r>
          </a:p>
          <a:p/>
          <a:p>
            <a:r>
              <a:t>Karpathy's key insight, inspired by Vannevar Bush's 1945 Memex paper, is simple: LLMs can be the maintenance layer. They don't tire of updating cross-references, don't forget to add citations, and can touch multiple files simultaneously.</a:t>
            </a:r>
          </a:p>
          <a:p/>
          <a:p>
            <a:r>
              <a:t>The three-layer model separates concerns cleanly:</a:t>
            </a:r>
          </a:p>
          <a:p>
            <a:r>
              <a:t>  • Raw Sources: humans curate what goes in — the AI never modifies these</a:t>
            </a:r>
          </a:p>
          <a:p>
            <a:r>
              <a:t>  • Wiki Layer: the AI owns and maintains this — entity pages, links, summaries</a:t>
            </a:r>
          </a:p>
          <a:p>
            <a:r>
              <a:t>  • Schema: the config file (CLAUDE.md) that tells the AI how to structure everything</a:t>
            </a:r>
          </a:p>
          <a:p/>
          <a:p>
            <a:r>
              <a:t>The result: a wiki that actually stays current because the maintenance cost drops to near zero.</a:t>
            </a:r>
          </a:p>
          <a:p/>
          <a:p>
            <a:r>
              <a:t>Timing: ~2 minutes on this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— SLIDE 3: ARCHITECTURE</a:t>
            </a:r>
          </a:p>
          <a:p/>
          <a:p>
            <a:r>
              <a:t>The architecture is elegant. Three workflows the AI runs:</a:t>
            </a:r>
          </a:p>
          <a:p/>
          <a:p>
            <a:r>
              <a:t>INGEST: when you add a new source file, the AI reads it, extracts key concepts, creates or updates entity pages, and adds cross-references. Each concept gets its own markdown file.</a:t>
            </a:r>
          </a:p>
          <a:p/>
          <a:p>
            <a:r>
              <a:t>QUERY: when you ask a question via the UI, the AI searches the relevant wiki pages, synthesizes an answer with citations, and can file valuable new insights back into the wiki.</a:t>
            </a:r>
          </a:p>
          <a:p/>
          <a:p>
            <a:r>
              <a:t>LINT: periodically, the AI runs health checks — finding orphan pages (nothing links to them), missing pages (referenced with [[brackets]] but not created), contradictions between sources, and stale information.</a:t>
            </a:r>
          </a:p>
          <a:p/>
          <a:p>
            <a:r>
              <a:t>Entity pages follow a consistent six-section format:</a:t>
            </a:r>
          </a:p>
          <a:p>
            <a:r>
              <a:t>  Definition · Summary · Explanation · Related Concepts · Sources · Contradictions</a:t>
            </a:r>
          </a:p>
          <a:p/>
          <a:p>
            <a:r>
              <a:t>The Sources section always cites paper, author, and page/section. Contradictions explicitly document when different sources disagree — this helps researchers understand how the field has evolved.</a:t>
            </a:r>
          </a:p>
          <a:p/>
          <a:p>
            <a:r>
              <a:t>Six file formats are supported with full text extraction (PDF, TXT, HTML) or best-effort extraction (PPTX, DOCX, XLSX).</a:t>
            </a:r>
          </a:p>
          <a:p/>
          <a:p>
            <a:r>
              <a:t>Timing: ~2 minutes on this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— SLIDE 4: IMPLEMENTATION</a:t>
            </a:r>
          </a:p>
          <a:p/>
          <a:p>
            <a:r>
              <a:t>The system works with both Claude Code CLI and GitHub Copilot Chat.</a:t>
            </a:r>
          </a:p>
          <a:p/>
          <a:p>
            <a:r>
              <a:t>WIKI SKILLS (orange = Claude / blue = Copilot) — the core wiki workflow:</a:t>
            </a:r>
          </a:p>
          <a:p>
            <a:r>
              <a:t>• compile-papers — reads everything in /raw and creates wiki pages from scratch</a:t>
            </a:r>
          </a:p>
          <a:p>
            <a:r>
              <a:t>• sync-wiki — use when you add new papers; detects what's new, updates without clobbering</a:t>
            </a:r>
          </a:p>
          <a:p>
            <a:r>
              <a:t>• audit-wiki — run every ~20 pages to catch orphans, missing links, contradictions</a:t>
            </a:r>
          </a:p>
          <a:p>
            <a:r>
              <a:t>• reset-wiki — wipe wiki for a fresh start with new topic area</a:t>
            </a:r>
          </a:p>
          <a:p>
            <a:r>
              <a:t>• launch-wiki-ui — starts the Streamlit web app locally</a:t>
            </a:r>
          </a:p>
          <a:p>
            <a:r>
              <a:t>• stop-wiki-ui — stops the running Streamlit process</a:t>
            </a:r>
          </a:p>
          <a:p/>
          <a:p>
            <a:r>
              <a:t>REPO MAINTENANCE (purple, both tools) — separate from wiki operations:</a:t>
            </a:r>
          </a:p>
          <a:p>
            <a:r>
              <a:t>• sync-docs — keeps README, GitHub Pages, and copilot-instructions in sync after code changes</a:t>
            </a:r>
          </a:p>
          <a:p>
            <a:r>
              <a:t>• run-maintenance — full health check: runs tests, verifies skill registration, checks wiki + git state</a:t>
            </a:r>
          </a:p>
          <a:p>
            <a:r>
              <a:t>• regenerate-presentation — rebuilds demo videos and this deck; detects changed scripts via git</a:t>
            </a:r>
          </a:p>
          <a:p/>
          <a:p>
            <a:r>
              <a:t>GitHub Copilot Chat equivalents (same skill files, natural language — no slash prefix):</a:t>
            </a:r>
          </a:p>
          <a:p>
            <a:r>
              <a:t>• Compile Papers to Wiki, Sync Wiki from Raw, Audit Wiki, Reset Wiki, Launch Wiki UI, Stop Wiki UI</a:t>
            </a:r>
          </a:p>
          <a:p>
            <a:r>
              <a:t>• Sync Docs, Run Maintenance, Regenerate Presentation</a:t>
            </a:r>
          </a:p>
          <a:p/>
          <a:p>
            <a:r>
              <a:t>The Streamlit Query UI is a multi-provider web app:</a:t>
            </a:r>
          </a:p>
          <a:p>
            <a:r>
              <a:t>  • Supports Anthropic, OpenAI, Google, Mistral, Cohere — enter any model ID + API key</a:t>
            </a:r>
          </a:p>
          <a:p>
            <a:r>
              <a:t>  • Answers grounded strictly in wiki content (no hallucination outside wiki)</a:t>
            </a:r>
          </a:p>
          <a:p>
            <a:r>
              <a:t>  • API key lives only in browser session memory — never written to disk</a:t>
            </a:r>
          </a:p>
          <a:p>
            <a:r>
              <a:t>  • Explicit "No information found" when a topic isn't in the wiki — you always know your boundaries</a:t>
            </a:r>
          </a:p>
          <a:p/>
          <a:p>
            <a:r>
              <a:t>Timing: ~2 minutes on this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— SLIDE 5: DEMO</a:t>
            </a:r>
          </a:p>
          <a:p/>
          <a:p>
            <a:r>
              <a:t>[CLICK EACH VIDEO TO PLAY — both are embedded in the presentation]</a:t>
            </a:r>
          </a:p>
          <a:p/>
          <a:p>
            <a:r>
              <a:t>TERMINAL DEMO covers:</a:t>
            </a:r>
          </a:p>
          <a:p>
            <a:r>
              <a:t>  1. Claude Code CLI startup</a:t>
            </a:r>
          </a:p>
          <a:p>
            <a:r>
              <a:t>  2. /compile-papers — scanning 9 /raw sources, creating 37 entity pages</a:t>
            </a:r>
          </a:p>
          <a:p>
            <a:r>
              <a:t>  3. /sync-wiki — all 9 sources already compiled; wiki is up to date</a:t>
            </a:r>
          </a:p>
          <a:p>
            <a:r>
              <a:t>  4. /audit-wiki — 37 pages, 252 links resolved, 0 orphans, 0 missing, 0 contradictions</a:t>
            </a:r>
          </a:p>
          <a:p>
            <a:r>
              <a:t>  5. GitHub Copilot Chat equivalents (@workspace /Compile Papers to Wiki + /Launch Wiki UI)</a:t>
            </a:r>
          </a:p>
          <a:p/>
          <a:p>
            <a:r>
              <a:t>UI DEMO covers:</a:t>
            </a:r>
          </a:p>
          <a:p>
            <a:r>
              <a:t>  1. Settings screen — entering model ID and API key (happy path)</a:t>
            </a:r>
          </a:p>
          <a:p>
            <a:r>
              <a:t>  2. Settings error — invalid API key format is caught immediately</a:t>
            </a:r>
          </a:p>
          <a:p>
            <a:r>
              <a:t>  3. Empty wiki warning — clear instruction to run /compile-papers first</a:t>
            </a:r>
          </a:p>
          <a:p>
            <a:r>
              <a:t>  4. Happy path query — "What is self-attention?" → cited answer from wiki</a:t>
            </a:r>
          </a:p>
          <a:p>
            <a:r>
              <a:t>  5. Not-found error — "What is a diffusion model?" → explicit signal + how to add it</a:t>
            </a:r>
          </a:p>
          <a:p/>
          <a:p>
            <a:r>
              <a:t>Key talking points:</a:t>
            </a:r>
          </a:p>
          <a:p>
            <a:r>
              <a:t>  • Terminal: minutes from raw papers to 37 interconnected wiki pages</a:t>
            </a:r>
          </a:p>
          <a:p>
            <a:r>
              <a:t>  • UI: the "not found" response is a feature, not a bug — you always know your wiki's boundaries</a:t>
            </a:r>
          </a:p>
          <a:p>
            <a:r>
              <a:t>  • Both tools share the same wiki files — no duplication</a:t>
            </a:r>
          </a:p>
          <a:p>
            <a:r>
              <a:t>  • Every change is git-versioned — safe to collaborate</a:t>
            </a:r>
          </a:p>
          <a:p/>
          <a:p>
            <a:r>
              <a:t>After demo: "This is available today. Fork the repo, drop in your papers, run /compile-papers. Your wiki starts growing immediately."</a:t>
            </a:r>
          </a:p>
          <a:p/>
          <a:p>
            <a:r>
              <a:t>Timing: ~2 minutes + demo playback.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.png"/><Relationship Id="rId5" Type="http://schemas.microsoft.com/office/2007/relationships/media" Target="../media/media2.mp4"/><Relationship Id="rId6" Type="http://schemas.openxmlformats.org/officeDocument/2006/relationships/video" Target="../media/media2.mp4"/><Relationship Id="rId7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80C1C"/>
            </a:gs>
            <a:gs pos="100000">
              <a:srgbClr val="0C1637"/>
            </a:gs>
          </a:gsLst>
          <a:lin scaled="0" ang="135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1691640"/>
            <a:ext cx="50292" cy="292608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1600200"/>
            <a:ext cx="73152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600" b="1">
                <a:solidFill>
                  <a:srgbClr val="FFFFFF"/>
                </a:solidFill>
                <a:latin typeface="Calibri"/>
              </a:defRPr>
            </a:pPr>
            <a:r>
              <a:t>LLM WIKI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926080"/>
            <a:ext cx="6949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C4D4EE"/>
                </a:solidFill>
                <a:latin typeface="Calibri"/>
              </a:defRPr>
            </a:pPr>
            <a:r>
              <a:t>Karpathy's Knowledge Architecture for AI Research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3794760"/>
            <a:ext cx="1691640" cy="329184"/>
          </a:xfrm>
          <a:prstGeom prst="roundRect">
            <a:avLst/>
          </a:prstGeom>
          <a:solidFill>
            <a:srgbClr val="101A38"/>
          </a:solidFill>
          <a:ln w="1016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831336"/>
            <a:ext cx="1691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B82F6"/>
                </a:solidFill>
                <a:latin typeface="Calibri"/>
              </a:defRPr>
            </a:pPr>
            <a:r>
              <a:t>AI-maintained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14600" y="3794760"/>
            <a:ext cx="1691640" cy="329184"/>
          </a:xfrm>
          <a:prstGeom prst="roundRect">
            <a:avLst/>
          </a:prstGeom>
          <a:solidFill>
            <a:srgbClr val="101A38"/>
          </a:solidFill>
          <a:ln w="1016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514600" y="3831336"/>
            <a:ext cx="1691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6B6D4"/>
                </a:solidFill>
                <a:latin typeface="Calibri"/>
              </a:defRPr>
            </a:pPr>
            <a:r>
              <a:t>Human-curated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3794760"/>
            <a:ext cx="1691640" cy="329184"/>
          </a:xfrm>
          <a:prstGeom prst="roundRect">
            <a:avLst/>
          </a:prstGeom>
          <a:solidFill>
            <a:srgbClr val="101A38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43400" y="3831336"/>
            <a:ext cx="1691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10B981"/>
                </a:solidFill>
                <a:latin typeface="Calibri"/>
              </a:defRPr>
            </a:pPr>
            <a:r>
              <a:t>Always current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315968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982AC"/>
                </a:solidFill>
                <a:latin typeface="Calibri"/>
              </a:defRPr>
            </a:pPr>
            <a:r>
              <a:t>Inspired by Andrej Karpathy  ·  gist.github.com/karpathy/442a6bf...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773168"/>
            <a:ext cx="7772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6B6D4"/>
                </a:solidFill>
                <a:latin typeface="Calibri"/>
              </a:defRPr>
            </a:pPr>
            <a:r>
              <a:t>github.com/dev-enthusiast-84/llm-wiki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366760" y="1005840"/>
            <a:ext cx="3520440" cy="5440680"/>
          </a:xfrm>
          <a:prstGeom prst="rect">
            <a:avLst/>
          </a:prstGeom>
          <a:solidFill>
            <a:srgbClr val="101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49640" y="1115568"/>
            <a:ext cx="3154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982AC"/>
                </a:solidFill>
                <a:latin typeface="Calibri"/>
              </a:defRPr>
            </a:pPr>
            <a:r>
              <a:t>ARCHITECTURE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49640" y="1554480"/>
            <a:ext cx="3154680" cy="1143000"/>
          </a:xfrm>
          <a:prstGeom prst="roundRect">
            <a:avLst/>
          </a:prstGeom>
          <a:solidFill>
            <a:srgbClr val="162448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549640" y="1554480"/>
            <a:ext cx="50292" cy="1143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59368" y="1645920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59E0B"/>
                </a:solidFill>
                <a:latin typeface="Calibri"/>
              </a:defRPr>
            </a:pPr>
            <a:r>
              <a:t>RAW SOURCES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59368" y="2084832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4D4EE"/>
                </a:solidFill>
                <a:latin typeface="Calibri"/>
              </a:defRPr>
            </a:pPr>
            <a:r>
              <a:t>Papers · HTML · PPTX · DOCX · XLSX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12680" y="2697480"/>
            <a:ext cx="23774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6982AC"/>
                </a:solidFill>
                <a:latin typeface="Calibri"/>
              </a:defRPr>
            </a:pPr>
            <a:r>
              <a:t>↓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49640" y="3063240"/>
            <a:ext cx="3154680" cy="1143000"/>
          </a:xfrm>
          <a:prstGeom prst="roundRect">
            <a:avLst/>
          </a:prstGeom>
          <a:solidFill>
            <a:srgbClr val="162448"/>
          </a:solidFill>
          <a:ln w="1524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549640" y="3063240"/>
            <a:ext cx="50292" cy="11430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59368" y="3154680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B82F6"/>
                </a:solidFill>
                <a:latin typeface="Calibri"/>
              </a:defRPr>
            </a:pPr>
            <a:r>
              <a:t>WIKI LAYER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59368" y="3593592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4D4EE"/>
                </a:solidFill>
                <a:latin typeface="Calibri"/>
              </a:defRPr>
            </a:pPr>
            <a:r>
              <a:t>Entity pages · [[links]] · Citations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12680" y="4206240"/>
            <a:ext cx="23774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6982AC"/>
                </a:solidFill>
                <a:latin typeface="Calibri"/>
              </a:defRPr>
            </a:pPr>
            <a:r>
              <a:t>↓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549640" y="4572000"/>
            <a:ext cx="3154680" cy="1143000"/>
          </a:xfrm>
          <a:prstGeom prst="roundRect">
            <a:avLst/>
          </a:prstGeom>
          <a:solidFill>
            <a:srgbClr val="162448"/>
          </a:solidFill>
          <a:ln w="1524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549640" y="4572000"/>
            <a:ext cx="50292" cy="11430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59368" y="4663440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B5CF6"/>
                </a:solidFill>
                <a:latin typeface="Calibri"/>
              </a:defRPr>
            </a:pPr>
            <a:r>
              <a:t>SCHEMA / CONFIG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59368" y="5102352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4D4EE"/>
                </a:solidFill>
                <a:latin typeface="Calibri"/>
              </a:defRPr>
            </a:pPr>
            <a:r>
              <a:t>CLAUDE.md · Conventions · Workflows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The Knowledge Management Crisis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70432"/>
            <a:ext cx="11201400" cy="12700"/>
          </a:xfrm>
          <a:prstGeom prst="rect">
            <a:avLst/>
          </a:prstGeom>
          <a:solidFill>
            <a:srgbClr val="2337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371600"/>
            <a:ext cx="5257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982AC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828800"/>
            <a:ext cx="5257800" cy="1207008"/>
          </a:xfrm>
          <a:prstGeom prst="roundRect">
            <a:avLst/>
          </a:prstGeom>
          <a:solidFill>
            <a:srgbClr val="162448"/>
          </a:solidFill>
          <a:ln w="889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074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Knowledge Overload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40864"/>
            <a:ext cx="5074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4D4EE"/>
                </a:solidFill>
                <a:latin typeface="Calibri"/>
              </a:defRPr>
            </a:pPr>
            <a:r>
              <a:t>Hundreds of papers, articles, and docs — impossible to track manually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182112"/>
            <a:ext cx="5257800" cy="1207008"/>
          </a:xfrm>
          <a:prstGeom prst="roundRect">
            <a:avLst/>
          </a:prstGeom>
          <a:solidFill>
            <a:srgbClr val="162448"/>
          </a:solidFill>
          <a:ln w="889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273552"/>
            <a:ext cx="5074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Manual Maintenance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694176"/>
            <a:ext cx="5074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4D4EE"/>
                </a:solidFill>
                <a:latin typeface="Calibri"/>
              </a:defRPr>
            </a:pPr>
            <a:r>
              <a:t>Wikis die because nobody updates cross-references or fixes stale links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535424"/>
            <a:ext cx="5257800" cy="1207008"/>
          </a:xfrm>
          <a:prstGeom prst="roundRect">
            <a:avLst/>
          </a:prstGeom>
          <a:solidFill>
            <a:srgbClr val="162448"/>
          </a:solidFill>
          <a:ln w="889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626864"/>
            <a:ext cx="5074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Scattered Insights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047488"/>
            <a:ext cx="5074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4D4EE"/>
                </a:solidFill>
                <a:latin typeface="Calibri"/>
              </a:defRPr>
            </a:pPr>
            <a:r>
              <a:t>Key ideas live in separate notebooks, tabs, and memory — never connected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1371600"/>
            <a:ext cx="5257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982AC"/>
                </a:solidFill>
                <a:latin typeface="Calibri"/>
              </a:defRPr>
            </a:pPr>
            <a:r>
              <a:t>KARPATHY'S INSIGHT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1828800"/>
            <a:ext cx="5257800" cy="1737360"/>
          </a:xfrm>
          <a:prstGeom prst="roundRect">
            <a:avLst/>
          </a:prstGeom>
          <a:solidFill>
            <a:srgbClr val="162448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1956816"/>
            <a:ext cx="4937760" cy="1261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8B5CF6"/>
                </a:solidFill>
                <a:latin typeface="Calibri"/>
              </a:defRPr>
            </a:pPr>
            <a:r>
              <a:t>"LLMs don't get bored.</a:t>
            </a:r>
            <a:br/>
            <a:r>
              <a:t>They don't forget to update a cross-reference."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3749039"/>
            <a:ext cx="5257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4D4EE"/>
                </a:solidFill>
                <a:latin typeface="Calibri"/>
              </a:defRPr>
            </a:pPr>
            <a:r>
              <a:t>Three-layer model: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4206240"/>
            <a:ext cx="50292" cy="5029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28816" y="420624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  <a:latin typeface="Calibri"/>
              </a:defRPr>
            </a:pPr>
            <a:r>
              <a:t>Raw Sources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420624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4D4EE"/>
                </a:solidFill>
                <a:latin typeface="Calibri"/>
              </a:defRPr>
            </a:pPr>
            <a:r>
              <a:t>Immutable — curated by humans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4773168"/>
            <a:ext cx="50292" cy="5029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28816" y="4773168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B82F6"/>
                </a:solidFill>
                <a:latin typeface="Calibri"/>
              </a:defRPr>
            </a:pPr>
            <a:r>
              <a:t>Wiki Layer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477316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4D4EE"/>
                </a:solidFill>
                <a:latin typeface="Calibri"/>
              </a:defRPr>
            </a:pPr>
            <a:r>
              <a:t>LLM-owned — maintained automatically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5340096"/>
            <a:ext cx="50292" cy="5029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28816" y="5340096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8B5CF6"/>
                </a:solidFill>
                <a:latin typeface="Calibri"/>
              </a:defRPr>
            </a:pPr>
            <a:r>
              <a:t>Schema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5340096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4D4EE"/>
                </a:solidFill>
                <a:latin typeface="Calibri"/>
              </a:defRPr>
            </a:pPr>
            <a:r>
              <a:t>Config — conventions &amp; workflows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6035040"/>
            <a:ext cx="5257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982AC"/>
                </a:solidFill>
                <a:latin typeface="Calibri"/>
              </a:defRPr>
            </a:pPr>
            <a:r>
              <a:t>Inspired by Vannevar Bush's Memex (1945) — the original vision for associative knowledge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Three Layers. Three Workflows.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70432"/>
            <a:ext cx="11201400" cy="12700"/>
          </a:xfrm>
          <a:prstGeom prst="rect">
            <a:avLst/>
          </a:prstGeom>
          <a:solidFill>
            <a:srgbClr val="2337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2356" y="1463040"/>
            <a:ext cx="3401568" cy="2606040"/>
          </a:xfrm>
          <a:prstGeom prst="roundRect">
            <a:avLst/>
          </a:prstGeom>
          <a:solidFill>
            <a:srgbClr val="162448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2356" y="1463040"/>
            <a:ext cx="3401568" cy="6400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2356" y="1591056"/>
            <a:ext cx="340156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3B82F6"/>
                </a:solidFill>
                <a:latin typeface="Calibri"/>
              </a:defRPr>
            </a:pPr>
            <a:r>
              <a:t>INGEST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5236" y="2212848"/>
            <a:ext cx="3035808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4D4EE"/>
                </a:solidFill>
                <a:latin typeface="Calibri"/>
              </a:defRPr>
            </a:pPr>
            <a:r>
              <a:t>Add a source → extract</a:t>
            </a:r>
            <a:br/>
            <a:r>
              <a:t>concepts → update pages</a:t>
            </a:r>
            <a:br/>
            <a:r>
              <a:t>→ add cross-references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18788" y="2468880"/>
            <a:ext cx="32918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6982AC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3692" y="1463040"/>
            <a:ext cx="3401568" cy="2606040"/>
          </a:xfrm>
          <a:prstGeom prst="roundRect">
            <a:avLst/>
          </a:prstGeom>
          <a:solidFill>
            <a:srgbClr val="162448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93692" y="1463040"/>
            <a:ext cx="3401568" cy="64008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93692" y="1591056"/>
            <a:ext cx="340156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06B6D4"/>
                </a:solidFill>
                <a:latin typeface="Calibri"/>
              </a:defRPr>
            </a:pPr>
            <a:r>
              <a:t>QUERY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6572" y="2212848"/>
            <a:ext cx="3035808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4D4EE"/>
                </a:solidFill>
                <a:latin typeface="Calibri"/>
              </a:defRPr>
            </a:pPr>
            <a:r>
              <a:t>Search relevant pages</a:t>
            </a:r>
            <a:br/>
            <a:r>
              <a:t>→ synthesize answer</a:t>
            </a:r>
            <a:br/>
            <a:r>
              <a:t>→ file new discoveries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50124" y="2468880"/>
            <a:ext cx="32918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6982AC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5028" y="1463040"/>
            <a:ext cx="3401568" cy="2606040"/>
          </a:xfrm>
          <a:prstGeom prst="roundRect">
            <a:avLst/>
          </a:prstGeom>
          <a:solidFill>
            <a:srgbClr val="162448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5028" y="1463040"/>
            <a:ext cx="3401568" cy="6400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5028" y="1591056"/>
            <a:ext cx="340156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10B981"/>
                </a:solidFill>
                <a:latin typeface="Calibri"/>
              </a:defRPr>
            </a:pPr>
            <a:r>
              <a:t>LINT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07908" y="2212848"/>
            <a:ext cx="3035808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4D4EE"/>
                </a:solidFill>
                <a:latin typeface="Calibri"/>
              </a:defRPr>
            </a:pPr>
            <a:r>
              <a:t>Find orphan pages, gaps,</a:t>
            </a:r>
            <a:br/>
            <a:r>
              <a:t>contradictions, and</a:t>
            </a:r>
            <a:br/>
            <a:r>
              <a:t>stale information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4251960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982AC"/>
                </a:solidFill>
                <a:latin typeface="Calibri"/>
              </a:defRPr>
            </a:pPr>
            <a:r>
              <a:t>ENTITY PAGE FORMAT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617720"/>
            <a:ext cx="1783080" cy="329184"/>
          </a:xfrm>
          <a:prstGeom prst="roundRect">
            <a:avLst/>
          </a:prstGeom>
          <a:solidFill>
            <a:srgbClr val="101A38"/>
          </a:solidFill>
          <a:ln w="1016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4654296"/>
            <a:ext cx="1783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6B6D4"/>
                </a:solidFill>
                <a:latin typeface="Calibri"/>
              </a:defRPr>
            </a:pPr>
            <a:r>
              <a:t>Definition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423160" y="4617720"/>
            <a:ext cx="1783080" cy="329184"/>
          </a:xfrm>
          <a:prstGeom prst="roundRect">
            <a:avLst/>
          </a:prstGeom>
          <a:solidFill>
            <a:srgbClr val="101A38"/>
          </a:solidFill>
          <a:ln w="1016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423160" y="4654296"/>
            <a:ext cx="1783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6B6D4"/>
                </a:solidFill>
                <a:latin typeface="Calibri"/>
              </a:defRPr>
            </a:pPr>
            <a:r>
              <a:t>Summary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43400" y="4617720"/>
            <a:ext cx="1783080" cy="329184"/>
          </a:xfrm>
          <a:prstGeom prst="roundRect">
            <a:avLst/>
          </a:prstGeom>
          <a:solidFill>
            <a:srgbClr val="101A38"/>
          </a:solidFill>
          <a:ln w="1016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43400" y="4654296"/>
            <a:ext cx="1783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6B6D4"/>
                </a:solidFill>
                <a:latin typeface="Calibri"/>
              </a:defRPr>
            </a:pPr>
            <a:r>
              <a:t>Explanation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63640" y="4617720"/>
            <a:ext cx="1783080" cy="329184"/>
          </a:xfrm>
          <a:prstGeom prst="roundRect">
            <a:avLst/>
          </a:prstGeom>
          <a:solidFill>
            <a:srgbClr val="101A38"/>
          </a:solidFill>
          <a:ln w="1016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63640" y="4654296"/>
            <a:ext cx="1783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6B6D4"/>
                </a:solidFill>
                <a:latin typeface="Calibri"/>
              </a:defRPr>
            </a:pPr>
            <a:r>
              <a:t>Related Concepts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83880" y="4617720"/>
            <a:ext cx="1783080" cy="329184"/>
          </a:xfrm>
          <a:prstGeom prst="roundRect">
            <a:avLst/>
          </a:prstGeom>
          <a:solidFill>
            <a:srgbClr val="101A38"/>
          </a:solidFill>
          <a:ln w="1016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83880" y="4654296"/>
            <a:ext cx="1783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6B6D4"/>
                </a:solidFill>
                <a:latin typeface="Calibri"/>
              </a:defRPr>
            </a:pPr>
            <a:r>
              <a:t>Sources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104120" y="4617720"/>
            <a:ext cx="1783080" cy="329184"/>
          </a:xfrm>
          <a:prstGeom prst="roundRect">
            <a:avLst/>
          </a:prstGeom>
          <a:solidFill>
            <a:srgbClr val="101A38"/>
          </a:solidFill>
          <a:ln w="1016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04120" y="4654296"/>
            <a:ext cx="1783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6B6D4"/>
                </a:solidFill>
                <a:latin typeface="Calibri"/>
              </a:defRPr>
            </a:pPr>
            <a:r>
              <a:t>Contradictions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5257800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982AC"/>
                </a:solidFill>
                <a:latin typeface="Calibri"/>
              </a:defRPr>
            </a:pPr>
            <a:r>
              <a:t>SOURCE FORMATS  (full text extraction)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623560"/>
            <a:ext cx="1783080" cy="329184"/>
          </a:xfrm>
          <a:prstGeom prst="roundRect">
            <a:avLst/>
          </a:prstGeom>
          <a:solidFill>
            <a:srgbClr val="101A38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920" y="5660136"/>
            <a:ext cx="1783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10B981"/>
                </a:solidFill>
                <a:latin typeface="Calibri"/>
              </a:defRPr>
            </a:pPr>
            <a:r>
              <a:t>PDF  ✓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423160" y="5623560"/>
            <a:ext cx="1783080" cy="329184"/>
          </a:xfrm>
          <a:prstGeom prst="roundRect">
            <a:avLst/>
          </a:prstGeom>
          <a:solidFill>
            <a:srgbClr val="101A38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423160" y="5660136"/>
            <a:ext cx="1783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10B981"/>
                </a:solidFill>
                <a:latin typeface="Calibri"/>
              </a:defRPr>
            </a:pPr>
            <a:r>
              <a:t>TXT  ✓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343400" y="5623560"/>
            <a:ext cx="1783080" cy="329184"/>
          </a:xfrm>
          <a:prstGeom prst="roundRect">
            <a:avLst/>
          </a:prstGeom>
          <a:solidFill>
            <a:srgbClr val="101A38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43400" y="5660136"/>
            <a:ext cx="1783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10B981"/>
                </a:solidFill>
                <a:latin typeface="Calibri"/>
              </a:defRPr>
            </a:pPr>
            <a:r>
              <a:t>HTML  ✓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63640" y="5623560"/>
            <a:ext cx="1783080" cy="329184"/>
          </a:xfrm>
          <a:prstGeom prst="roundRect">
            <a:avLst/>
          </a:prstGeom>
          <a:solidFill>
            <a:srgbClr val="101A38"/>
          </a:solidFill>
          <a:ln w="1016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63640" y="5660136"/>
            <a:ext cx="1783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6B6D4"/>
                </a:solidFill>
                <a:latin typeface="Calibri"/>
              </a:defRPr>
            </a:pPr>
            <a:r>
              <a:t>PPTX  ✓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183880" y="5623560"/>
            <a:ext cx="1783080" cy="329184"/>
          </a:xfrm>
          <a:prstGeom prst="roundRect">
            <a:avLst/>
          </a:prstGeom>
          <a:solidFill>
            <a:srgbClr val="101A38"/>
          </a:solidFill>
          <a:ln w="1016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83880" y="5660136"/>
            <a:ext cx="1783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6B6D4"/>
                </a:solidFill>
                <a:latin typeface="Calibri"/>
              </a:defRPr>
            </a:pPr>
            <a:r>
              <a:t>DOCX  ✓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104120" y="5623560"/>
            <a:ext cx="1783080" cy="329184"/>
          </a:xfrm>
          <a:prstGeom prst="roundRect">
            <a:avLst/>
          </a:prstGeom>
          <a:solidFill>
            <a:srgbClr val="101A38"/>
          </a:solidFill>
          <a:ln w="1016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104120" y="5660136"/>
            <a:ext cx="1783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6B6D4"/>
                </a:solidFill>
                <a:latin typeface="Calibri"/>
              </a:defRPr>
            </a:pPr>
            <a:r>
              <a:t>XLSX  ✓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Works Where You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70432"/>
            <a:ext cx="11201400" cy="12700"/>
          </a:xfrm>
          <a:prstGeom prst="rect">
            <a:avLst/>
          </a:prstGeom>
          <a:solidFill>
            <a:srgbClr val="2337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371600"/>
            <a:ext cx="5230368" cy="4069080"/>
          </a:xfrm>
          <a:prstGeom prst="roundRect">
            <a:avLst/>
          </a:prstGeom>
          <a:solidFill>
            <a:srgbClr val="162448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71600"/>
            <a:ext cx="5230368" cy="6400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435608"/>
            <a:ext cx="523036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59E0B"/>
                </a:solidFill>
                <a:latin typeface="Calibri"/>
              </a:defRPr>
            </a:pPr>
            <a:r>
              <a:t>CLAUDE CODE CLI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10512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59E0B"/>
                </a:solidFill>
                <a:latin typeface="Calibri"/>
              </a:defRPr>
            </a:pPr>
            <a:r>
              <a:t>WIKI SKILLS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02536"/>
            <a:ext cx="1920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59E0B"/>
                </a:solidFill>
                <a:latin typeface="Courier New"/>
              </a:defRPr>
            </a:pPr>
            <a:r>
              <a:t>/compile-papers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79192" y="2002536"/>
            <a:ext cx="294436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D4EE"/>
                </a:solidFill>
                <a:latin typeface="Calibri"/>
              </a:defRPr>
            </a:pPr>
            <a:r>
              <a:t>Extract concepts from all /raw sources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340864"/>
            <a:ext cx="1920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59E0B"/>
                </a:solidFill>
                <a:latin typeface="Courier New"/>
              </a:defRPr>
            </a:pPr>
            <a:r>
              <a:t>/sync-wiki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79192" y="2340864"/>
            <a:ext cx="294436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D4EE"/>
                </a:solidFill>
                <a:latin typeface="Calibri"/>
              </a:defRPr>
            </a:pPr>
            <a:r>
              <a:t>Incremental update from new sources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679192"/>
            <a:ext cx="1920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59E0B"/>
                </a:solidFill>
                <a:latin typeface="Courier New"/>
              </a:defRPr>
            </a:pPr>
            <a:r>
              <a:t>/audit-wiki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79192" y="2679192"/>
            <a:ext cx="294436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D4EE"/>
                </a:solidFill>
                <a:latin typeface="Calibri"/>
              </a:defRPr>
            </a:pPr>
            <a:r>
              <a:t>Quality check — orphans, contradictions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017520"/>
            <a:ext cx="1920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59E0B"/>
                </a:solidFill>
                <a:latin typeface="Courier New"/>
              </a:defRPr>
            </a:pPr>
            <a:r>
              <a:t>/reset-wiki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79192" y="3017520"/>
            <a:ext cx="294436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D4EE"/>
                </a:solidFill>
                <a:latin typeface="Calibri"/>
              </a:defRPr>
            </a:pPr>
            <a:r>
              <a:t>Wipe wiki for a fresh start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355848"/>
            <a:ext cx="1920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59E0B"/>
                </a:solidFill>
                <a:latin typeface="Courier New"/>
              </a:defRPr>
            </a:pPr>
            <a:r>
              <a:t>/launch-wiki-ui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79192" y="3355848"/>
            <a:ext cx="294436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D4EE"/>
                </a:solidFill>
                <a:latin typeface="Calibri"/>
              </a:defRPr>
            </a:pPr>
            <a:r>
              <a:t>Start Streamlit query interface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694176"/>
            <a:ext cx="1920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59E0B"/>
                </a:solidFill>
                <a:latin typeface="Courier New"/>
              </a:defRPr>
            </a:pPr>
            <a:r>
              <a:t>/stop-wiki-ui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79192" y="3694176"/>
            <a:ext cx="294436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D4EE"/>
                </a:solidFill>
                <a:latin typeface="Calibri"/>
              </a:defRPr>
            </a:pPr>
            <a:r>
              <a:t>Stop the running Streamlit app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4069080"/>
            <a:ext cx="4956048" cy="12700"/>
          </a:xfrm>
          <a:prstGeom prst="rect">
            <a:avLst/>
          </a:prstGeom>
          <a:solidFill>
            <a:srgbClr val="2337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142232"/>
            <a:ext cx="2011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8B5CF6"/>
                </a:solidFill>
                <a:latin typeface="Calibri"/>
              </a:defRPr>
            </a:pPr>
            <a:r>
              <a:t>REPO MAINTENANCE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343400"/>
            <a:ext cx="1920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8B5CF6"/>
                </a:solidFill>
                <a:latin typeface="Courier New"/>
              </a:defRPr>
            </a:pPr>
            <a:r>
              <a:t>/sync-docs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79192" y="4343400"/>
            <a:ext cx="294436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D4EE"/>
                </a:solidFill>
                <a:latin typeface="Calibri"/>
              </a:defRPr>
            </a:pPr>
            <a:r>
              <a:t>Sync README, GitHub Pages, sub-READMEs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4681728"/>
            <a:ext cx="1920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8B5CF6"/>
                </a:solidFill>
                <a:latin typeface="Courier New"/>
              </a:defRPr>
            </a:pPr>
            <a:r>
              <a:t>/run-maintenance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79192" y="4681728"/>
            <a:ext cx="294436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D4EE"/>
                </a:solidFill>
                <a:latin typeface="Calibri"/>
              </a:defRPr>
            </a:pPr>
            <a:r>
              <a:t>Run tests, verify skills, git health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020056"/>
            <a:ext cx="1920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8B5CF6"/>
                </a:solidFill>
                <a:latin typeface="Courier New"/>
              </a:defRPr>
            </a:pPr>
            <a:r>
              <a:t>/regenerate-presentation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79192" y="5020056"/>
            <a:ext cx="294436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D4EE"/>
                </a:solidFill>
                <a:latin typeface="Calibri"/>
              </a:defRPr>
            </a:pPr>
            <a:r>
              <a:t>Rebuild demo videos and PPTX deck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0" y="1371600"/>
            <a:ext cx="5230368" cy="4069080"/>
          </a:xfrm>
          <a:prstGeom prst="roundRect">
            <a:avLst/>
          </a:prstGeom>
          <a:solidFill>
            <a:srgbClr val="162448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00800" y="1371600"/>
            <a:ext cx="5230368" cy="6400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1435608"/>
            <a:ext cx="523036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3B82F6"/>
                </a:solidFill>
                <a:latin typeface="Calibri"/>
              </a:defRPr>
            </a:pPr>
            <a:r>
              <a:t>GITHUB COPILOT CHAT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37960" y="1810512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3B82F6"/>
                </a:solidFill>
                <a:latin typeface="Calibri"/>
              </a:defRPr>
            </a:pPr>
            <a:r>
              <a:t>WIKI SKILLS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37960" y="2002536"/>
            <a:ext cx="2103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B82F6"/>
                </a:solidFill>
                <a:latin typeface="Courier New"/>
              </a:defRPr>
            </a:pPr>
            <a:r>
              <a:t>Compile Papers to Wiki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59952" y="2002536"/>
            <a:ext cx="27614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D4EE"/>
                </a:solidFill>
                <a:latin typeface="Calibri"/>
              </a:defRPr>
            </a:pPr>
            <a:r>
              <a:t>Extract from all /raw sources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37960" y="2340864"/>
            <a:ext cx="2103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B82F6"/>
                </a:solidFill>
                <a:latin typeface="Courier New"/>
              </a:defRPr>
            </a:pPr>
            <a:r>
              <a:t>Sync Wiki from Raw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59952" y="2340864"/>
            <a:ext cx="27614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D4EE"/>
                </a:solidFill>
                <a:latin typeface="Calibri"/>
              </a:defRPr>
            </a:pPr>
            <a:r>
              <a:t>Incremental update from new sources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37960" y="2679192"/>
            <a:ext cx="2103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B82F6"/>
                </a:solidFill>
                <a:latin typeface="Courier New"/>
              </a:defRPr>
            </a:pPr>
            <a:r>
              <a:t>Audit Wiki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59952" y="2679192"/>
            <a:ext cx="27614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D4EE"/>
                </a:solidFill>
                <a:latin typeface="Calibri"/>
              </a:defRPr>
            </a:pPr>
            <a:r>
              <a:t>Quality check — orphans, contradictions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37960" y="3017520"/>
            <a:ext cx="2103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B82F6"/>
                </a:solidFill>
                <a:latin typeface="Courier New"/>
              </a:defRPr>
            </a:pPr>
            <a:r>
              <a:t>Reset Wiki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759952" y="3017520"/>
            <a:ext cx="27614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D4EE"/>
                </a:solidFill>
                <a:latin typeface="Calibri"/>
              </a:defRPr>
            </a:pPr>
            <a:r>
              <a:t>Wipe wiki for a fresh start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37960" y="3355848"/>
            <a:ext cx="2103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B82F6"/>
                </a:solidFill>
                <a:latin typeface="Courier New"/>
              </a:defRPr>
            </a:pPr>
            <a:r>
              <a:t>Launch Wiki UI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759952" y="3355848"/>
            <a:ext cx="27614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D4EE"/>
                </a:solidFill>
                <a:latin typeface="Calibri"/>
              </a:defRPr>
            </a:pPr>
            <a:r>
              <a:t>Start Streamlit query interface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37960" y="3694176"/>
            <a:ext cx="2103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B82F6"/>
                </a:solidFill>
                <a:latin typeface="Courier New"/>
              </a:defRPr>
            </a:pPr>
            <a:r>
              <a:t>Stop Wiki UI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759952" y="3694176"/>
            <a:ext cx="27614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D4EE"/>
                </a:solidFill>
                <a:latin typeface="Calibri"/>
              </a:defRPr>
            </a:pPr>
            <a:r>
              <a:t>Stop the running Streamlit app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537960" y="4069080"/>
            <a:ext cx="4956048" cy="12700"/>
          </a:xfrm>
          <a:prstGeom prst="rect">
            <a:avLst/>
          </a:prstGeom>
          <a:solidFill>
            <a:srgbClr val="2337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37960" y="4142232"/>
            <a:ext cx="2011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8B5CF6"/>
                </a:solidFill>
                <a:latin typeface="Calibri"/>
              </a:defRPr>
            </a:pPr>
            <a:r>
              <a:t>REPO MAINTENANCE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37960" y="4343400"/>
            <a:ext cx="2103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8B5CF6"/>
                </a:solidFill>
                <a:latin typeface="Courier New"/>
              </a:defRPr>
            </a:pPr>
            <a:r>
              <a:t>Sync Docs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759952" y="4343400"/>
            <a:ext cx="27614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D4EE"/>
                </a:solidFill>
                <a:latin typeface="Calibri"/>
              </a:defRPr>
            </a:pPr>
            <a:r>
              <a:t>Sync README and documentation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37960" y="4681728"/>
            <a:ext cx="2103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8B5CF6"/>
                </a:solidFill>
                <a:latin typeface="Courier New"/>
              </a:defRPr>
            </a:pPr>
            <a:r>
              <a:t>Run Maintenance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759952" y="4681728"/>
            <a:ext cx="27614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D4EE"/>
                </a:solidFill>
                <a:latin typeface="Calibri"/>
              </a:defRPr>
            </a:pPr>
            <a:r>
              <a:t>Run tests, verify skills, git health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37960" y="5020056"/>
            <a:ext cx="2103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8B5CF6"/>
                </a:solidFill>
                <a:latin typeface="Courier New"/>
              </a:defRPr>
            </a:pPr>
            <a:r>
              <a:t>Regenerate Presentation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759952" y="5020056"/>
            <a:ext cx="27614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D4EE"/>
                </a:solidFill>
                <a:latin typeface="Calibri"/>
              </a:defRPr>
            </a:pPr>
            <a:r>
              <a:t>Rebuild demo videos and PPTX deck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02920" y="5532120"/>
            <a:ext cx="11201400" cy="987552"/>
          </a:xfrm>
          <a:prstGeom prst="roundRect">
            <a:avLst/>
          </a:prstGeom>
          <a:solidFill>
            <a:srgbClr val="162448"/>
          </a:solidFill>
          <a:ln w="1524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02920" y="5532120"/>
            <a:ext cx="64008" cy="98755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85800" y="5623560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B6D4"/>
                </a:solidFill>
                <a:latin typeface="Calibri"/>
              </a:defRPr>
            </a:pPr>
            <a:r>
              <a:t>STREAMLIT QUERY UI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85800" y="6035040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982AC"/>
                </a:solidFill>
                <a:latin typeface="Calibri"/>
              </a:defRPr>
            </a:pPr>
            <a:r>
              <a:t>Multi-provider · Grounded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108960" y="5623560"/>
            <a:ext cx="2103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C4D4EE"/>
                </a:solidFill>
                <a:latin typeface="Calibri"/>
              </a:defRPr>
            </a:pPr>
            <a:r>
              <a:t>· Multi-provider Q&amp;A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108960" y="6035040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982AC"/>
                </a:solidFill>
                <a:latin typeface="Calibri"/>
              </a:defRPr>
            </a:pPr>
            <a:r>
              <a:t>Anthropic · OpenAI · Google · Mistral · Cohere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257800" y="5623560"/>
            <a:ext cx="2103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C4D4EE"/>
                </a:solidFill>
                <a:latin typeface="Calibri"/>
              </a:defRPr>
            </a:pPr>
            <a:r>
              <a:t>· Wiki-grounded answers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257800" y="6035040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982AC"/>
                </a:solidFill>
                <a:latin typeface="Calibri"/>
              </a:defRPr>
            </a:pPr>
            <a:r>
              <a:t>No hallucination outside wiki content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06640" y="5623560"/>
            <a:ext cx="2103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C4D4EE"/>
                </a:solidFill>
                <a:latin typeface="Calibri"/>
              </a:defRPr>
            </a:pPr>
            <a:r>
              <a:t>· API key + model validation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406640" y="6035040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982AC"/>
                </a:solidFill>
                <a:latin typeface="Calibri"/>
              </a:defRPr>
            </a:pPr>
            <a:r>
              <a:t>Session memory — never saved to disk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555480" y="5623560"/>
            <a:ext cx="2103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C4D4EE"/>
                </a:solidFill>
                <a:latin typeface="Calibri"/>
              </a:defRPr>
            </a:pPr>
            <a:r>
              <a:t>· Explicit 'not found'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555480" y="6035040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982AC"/>
                </a:solidFill>
                <a:latin typeface="Calibri"/>
              </a:defRPr>
            </a:pPr>
            <a:r>
              <a:t>Clear signal when topic is outside wiki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80C1C"/>
            </a:gs>
            <a:gs pos="100000">
              <a:srgbClr val="050A20"/>
            </a:gs>
          </a:gsLst>
          <a:lin scaled="0" ang="135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See It In Action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70432"/>
            <a:ext cx="11201400" cy="12700"/>
          </a:xfrm>
          <a:prstGeom prst="rect">
            <a:avLst/>
          </a:prstGeom>
          <a:solidFill>
            <a:srgbClr val="2337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terminal-demo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02920" y="1371600"/>
            <a:ext cx="5349240" cy="37490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5212079"/>
            <a:ext cx="5349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9E0B"/>
                </a:solidFill>
                <a:latin typeface="Calibri"/>
              </a:defRPr>
            </a:pPr>
            <a:r>
              <a:t>Terminal Skills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541263"/>
            <a:ext cx="5349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982AC"/>
                </a:solidFill>
                <a:latin typeface="Calibri"/>
              </a:defRPr>
            </a:pPr>
            <a:r>
              <a:t>compile-papers  ·  sync-wiki  ·  audit-wiki  ·  Copilot (compile + launch-ui)</a:t>
            </a:r>
          </a:p>
        </p:txBody>
      </p:sp>
      <p:pic>
        <p:nvPicPr>
          <p:cNvPr id="7" name="ui-demo.mp4">
            <a:hlinkClick r:id="" action="ppaction://media"/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6355080" y="1371600"/>
            <a:ext cx="5349240" cy="374903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55080" y="5212079"/>
            <a:ext cx="5349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6B6D4"/>
                </a:solidFill>
                <a:latin typeface="Calibri"/>
              </a:defRPr>
            </a:pPr>
            <a:r>
              <a:t>Wiki Query UI Demo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5541263"/>
            <a:ext cx="5349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982AC"/>
                </a:solidFill>
                <a:latin typeface="Calibri"/>
              </a:defRPr>
            </a:pPr>
            <a:r>
              <a:t>settings  ·  happy-path query  ·  empty wiki  ·  not-found error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016752"/>
            <a:ext cx="11201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6B6D4"/>
                </a:solidFill>
                <a:latin typeface="Calibri"/>
              </a:defRPr>
            </a:pPr>
            <a:r>
              <a:t>github.com/dev-enthusiast-84/llm-wiki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