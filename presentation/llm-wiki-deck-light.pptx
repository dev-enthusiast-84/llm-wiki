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1: TITLE</a:t>
            </a:r>
          </a:p>
          <a:p/>
          <a:p>
            <a:r>
              <a:t>Welcome everyone. Today I'm presenting LLM Wiki — a working implementation of Andrej Karpathy's vision for AI-powered knowledge management in research.</a:t>
            </a:r>
          </a:p>
          <a:p/>
          <a:p>
            <a:r>
              <a:t>Key message: instead of manually maintaining a research wiki (which humans inevitably abandon), we let AI do the bookkeeping while humans stay in control of what goes in.</a:t>
            </a:r>
          </a:p>
          <a:p/>
          <a:p>
            <a:r>
              <a:t>The system has three clean layers:</a:t>
            </a:r>
          </a:p>
          <a:p>
            <a:r>
              <a:t>  • Raw Sources — immutable papers, HTML pages, spreadsheets that you add; the AI never modifies these</a:t>
            </a:r>
          </a:p>
          <a:p>
            <a:r>
              <a:t>  • Wiki Layer — LLM-generated entity pages with cross-references; the AI owns and maintains this layer entirely</a:t>
            </a:r>
          </a:p>
          <a:p>
            <a:r>
              <a:t>  • Schema / Config — the CLAUDE.md file that tells the AI how to structure everything</a:t>
            </a:r>
          </a:p>
          <a:p/>
          <a:p>
            <a:r>
              <a:t>Over the next four slides we'll see why this matters, how it's built, and a live demo.</a:t>
            </a:r>
          </a:p>
          <a:p/>
          <a:p>
            <a:r>
              <a:t>Timing: ~1.5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2: THE PROBLEM</a:t>
            </a:r>
          </a:p>
          <a:p/>
          <a:p>
            <a:r>
              <a:t>Every researcher and engineer faces this problem: we read papers, take notes, bookmark articles — but the knowledge stays scattered. Traditional wikis exist but nobody maintains them because the maintenance burden exceeds the perceived value.</a:t>
            </a:r>
          </a:p>
          <a:p/>
          <a:p>
            <a:r>
              <a:t>Karpathy's key insight, inspired by Vannevar Bush's 1945 Memex paper, is simple: LLMs can be the maintenance layer. They don't tire of updating cross-references, don't forget to add citations, and can touch multiple files simultaneously.</a:t>
            </a:r>
          </a:p>
          <a:p/>
          <a:p>
            <a:r>
              <a:t>The three-layer model separates concerns cleanly:</a:t>
            </a:r>
          </a:p>
          <a:p>
            <a:r>
              <a:t>  • Raw Sources: humans curate what goes in — the AI never modifies these</a:t>
            </a:r>
          </a:p>
          <a:p>
            <a:r>
              <a:t>  • Wiki Layer: the AI owns and maintains this — entity pages, links, summaries</a:t>
            </a:r>
          </a:p>
          <a:p>
            <a:r>
              <a:t>  • Schema: the config file (CLAUDE.md) that tells the AI how to structure everything</a:t>
            </a:r>
          </a:p>
          <a:p/>
          <a:p>
            <a:r>
              <a:t>The result: a wiki that actually stays current because the maintenance cost drops to near zero.</a:t>
            </a:r>
          </a:p>
          <a:p/>
          <a:p>
            <a:r>
              <a:t>Timing: ~2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3: ARCHITECTURE</a:t>
            </a:r>
          </a:p>
          <a:p/>
          <a:p>
            <a:r>
              <a:t>The architecture is elegant. Three workflows the AI runs:</a:t>
            </a:r>
          </a:p>
          <a:p/>
          <a:p>
            <a:r>
              <a:t>INGEST: when you add a new source file, the AI reads it, extracts key concepts, creates or updates entity pages, and adds cross-references. Each concept gets its own markdown file.</a:t>
            </a:r>
          </a:p>
          <a:p/>
          <a:p>
            <a:r>
              <a:t>QUERY: when you ask a question via the UI, the AI searches the relevant wiki pages, synthesizes an answer with citations, and can file valuable new insights back into the wiki.</a:t>
            </a:r>
          </a:p>
          <a:p/>
          <a:p>
            <a:r>
              <a:t>LINT: periodically, the AI runs health checks — finding orphan pages (nothing links to them), missing pages (referenced with [[brackets]] but not created), contradictions between sources, and stale information.</a:t>
            </a:r>
          </a:p>
          <a:p/>
          <a:p>
            <a:r>
              <a:t>Entity pages follow a consistent six-section format:</a:t>
            </a:r>
          </a:p>
          <a:p>
            <a:r>
              <a:t>  Definition · Summary · Explanation · Related Concepts · Sources · Contradictions</a:t>
            </a:r>
          </a:p>
          <a:p/>
          <a:p>
            <a:r>
              <a:t>The Sources section always cites paper, author, and page/section. Contradictions explicitly document when different sources disagree — this helps researchers understand how the field has evolved.</a:t>
            </a:r>
          </a:p>
          <a:p/>
          <a:p>
            <a:r>
              <a:t>Six file formats are supported with full text extraction (PDF, TXT, HTML) or best-effort extraction (PPTX, DOCX, XLSX).</a:t>
            </a:r>
          </a:p>
          <a:p/>
          <a:p>
            <a:r>
              <a:t>Timing: ~2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4: IMPLEMENTATION</a:t>
            </a:r>
          </a:p>
          <a:p/>
          <a:p>
            <a:r>
              <a:t>The system works with both Claude Code CLI and GitHub Copilot Chat.</a:t>
            </a:r>
          </a:p>
          <a:p>
            <a:r>
              <a:t>All skills now use parallel agents internally for significant speed gains.</a:t>
            </a:r>
          </a:p>
          <a:p/>
          <a:p>
            <a:r>
              <a:t>WIKI SKILLS (orange = Claude / blue = Copilot) — the core wiki workflow:</a:t>
            </a:r>
          </a:p>
          <a:p>
            <a:r>
              <a:t>• orchestrate-wiki — NEW: one command runs the full pipeline; detects wiki state, spawns parallel</a:t>
            </a:r>
          </a:p>
          <a:p>
            <a:r>
              <a:t>  extraction agents (one per source file), runs 4 parallel audit agents, then syncs all docs</a:t>
            </a:r>
          </a:p>
          <a:p>
            <a:r>
              <a:t>• compile-papers — reads all of /raw using parallel agents (one per file); creates wiki pages</a:t>
            </a:r>
          </a:p>
          <a:p>
            <a:r>
              <a:t>• sync-wiki — detects new files; spawns parallel agents when multiple new sources exist</a:t>
            </a:r>
          </a:p>
          <a:p>
            <a:r>
              <a:t>• audit-wiki — runs 4 parallel agents: orphan check, missing pages, contradictions, stale claims</a:t>
            </a:r>
          </a:p>
          <a:p>
            <a:r>
              <a:t>• reset-wiki — wipe wiki for a fresh start with new topic area</a:t>
            </a:r>
          </a:p>
          <a:p>
            <a:r>
              <a:t>• launch-wiki-ui — starts the Streamlit web app locally</a:t>
            </a:r>
          </a:p>
          <a:p>
            <a:r>
              <a:t>• stop-wiki-ui — stops the running Streamlit process</a:t>
            </a:r>
          </a:p>
          <a:p/>
          <a:p>
            <a:r>
              <a:t>REPO MAINTENANCE (purple, both tools) — separate from wiki operations:</a:t>
            </a:r>
          </a:p>
          <a:p>
            <a:r>
              <a:t>• sync-docs — keeps README, GitHub Pages, and copilot-instructions in sync after code changes</a:t>
            </a:r>
          </a:p>
          <a:p>
            <a:r>
              <a:t>• run-maintenance — spawns 4 parallel agents: tests, skill registration, wiki health, git status</a:t>
            </a:r>
          </a:p>
          <a:p>
            <a:r>
              <a:t>• regenerate-presentation — rebuilds demo videos and this deck; detects changed scripts via git</a:t>
            </a:r>
          </a:p>
          <a:p/>
          <a:p>
            <a:r>
              <a:t>GitHub Copilot Chat equivalents (same skill files, natural language — no slash prefix):</a:t>
            </a:r>
          </a:p>
          <a:p>
            <a:r>
              <a:t>• Orchestrate Wiki, Compile Papers to Wiki, Sync Wiki from Raw, Audit Wiki, Reset Wiki, Launch Wiki UI, Stop Wiki UI</a:t>
            </a:r>
          </a:p>
          <a:p>
            <a:r>
              <a:t>• Sync Docs, Run Maintenance, Regenerate Presentation</a:t>
            </a:r>
          </a:p>
          <a:p/>
          <a:p>
            <a:r>
              <a:t>The Streamlit Query UI is a multi-provider web app:</a:t>
            </a:r>
          </a:p>
          <a:p>
            <a:r>
              <a:t>  • Supports Anthropic, OpenAI, Google, Mistral, Cohere — enter any model ID + API key</a:t>
            </a:r>
          </a:p>
          <a:p>
            <a:r>
              <a:t>  • Answers grounded strictly in wiki content (no hallucination outside wiki)</a:t>
            </a:r>
          </a:p>
          <a:p>
            <a:r>
              <a:t>  • API key lives only in browser session memory — never written to disk</a:t>
            </a:r>
          </a:p>
          <a:p>
            <a:r>
              <a:t>  • Explicit "No information found" when a topic isn't in the wiki — you always know your boundaries</a:t>
            </a:r>
          </a:p>
          <a:p/>
          <a:p>
            <a:r>
              <a:t>Timing: ~2 minutes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5: DEMO</a:t>
            </a:r>
          </a:p>
          <a:p/>
          <a:p>
            <a:r>
              <a:t>[CLICK EACH VIDEO TO PLAY — both are embedded in the presentation]</a:t>
            </a:r>
          </a:p>
          <a:p/>
          <a:p>
            <a:r>
              <a:t>TERMINAL DEMO covers:</a:t>
            </a:r>
          </a:p>
          <a:p>
            <a:r>
              <a:t>  1. Claude Code CLI startup</a:t>
            </a:r>
          </a:p>
          <a:p>
            <a:r>
              <a:t>  2. /compile-papers — scanning 9 /raw sources, creating 37 entity pages</a:t>
            </a:r>
          </a:p>
          <a:p>
            <a:r>
              <a:t>  3. /sync-wiki — all 9 sources already compiled; wiki is up to date</a:t>
            </a:r>
          </a:p>
          <a:p>
            <a:r>
              <a:t>  4. /audit-wiki — 37 pages, 252 links resolved, 0 orphans, 0 missing, 0 contradictions</a:t>
            </a:r>
          </a:p>
          <a:p>
            <a:r>
              <a:t>  5. GitHub Copilot Chat equivalents (@workspace /Compile Papers to Wiki + /Launch Wiki UI)</a:t>
            </a:r>
          </a:p>
          <a:p/>
          <a:p>
            <a:r>
              <a:t>UI DEMO covers:</a:t>
            </a:r>
          </a:p>
          <a:p>
            <a:r>
              <a:t>  1. Settings screen — entering model ID and API key (happy path)</a:t>
            </a:r>
          </a:p>
          <a:p>
            <a:r>
              <a:t>  2. Settings error — invalid API key format is caught immediately</a:t>
            </a:r>
          </a:p>
          <a:p>
            <a:r>
              <a:t>  3. Empty wiki warning — clear instruction to run /compile-papers first</a:t>
            </a:r>
          </a:p>
          <a:p>
            <a:r>
              <a:t>  4. Happy path query — "What is self-attention?" → cited answer from wiki</a:t>
            </a:r>
          </a:p>
          <a:p>
            <a:r>
              <a:t>  5. Not-found error — "What is a diffusion model?" → explicit signal + how to add it</a:t>
            </a:r>
          </a:p>
          <a:p/>
          <a:p>
            <a:r>
              <a:t>Key talking points:</a:t>
            </a:r>
          </a:p>
          <a:p>
            <a:r>
              <a:t>  • Terminal: minutes from raw papers to 37 interconnected wiki pages</a:t>
            </a:r>
          </a:p>
          <a:p>
            <a:r>
              <a:t>  • UI: the "not found" response is a feature, not a bug — you always know your wiki's boundaries</a:t>
            </a:r>
          </a:p>
          <a:p>
            <a:r>
              <a:t>  • Both tools share the same wiki files — no duplication</a:t>
            </a:r>
          </a:p>
          <a:p>
            <a:r>
              <a:t>  • Every change is git-versioned — safe to collaborate</a:t>
            </a:r>
          </a:p>
          <a:p/>
          <a:p>
            <a:r>
              <a:t>After demo: "This is available today. Fork the repo, drop in your papers, run /compile-papers. Your wiki starts growing immediately."</a:t>
            </a:r>
          </a:p>
          <a:p/>
          <a:p>
            <a:r>
              <a:t>Timing: ~2 minutes + demo playback.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hyperlink" Target="https://gist.github.com/karpathy/442a6bf555914893e9891c11519de94f" TargetMode="External"/><Relationship Id="rId8" Type="http://schemas.openxmlformats.org/officeDocument/2006/relationships/hyperlink" Target="https://github.com/dev-enthusiast-84/llm-wiki" TargetMode="External"/><Relationship Id="rId9" Type="http://schemas.openxmlformats.org/officeDocument/2006/relationships/hyperlink" Target="https://dev-enthusiast-84.github.io/llm-wiki/" TargetMode="External"/><Relationship Id="rId10" Type="http://schemas.openxmlformats.org/officeDocument/2006/relationships/hyperlink" Target="https://www.linkedin.com/posts/maneetta-antony_llm-wiki-share-7452168182221623296-acGl?utm_source=share&amp;utm_medium=member_desktop&amp;rcm=ACoAAAMKjaMBgVWqnGQ7U4godYqOh1rcqonVh74" TargetMode="Externa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CF8F0"/>
            </a:gs>
            <a:gs pos="100000">
              <a:srgbClr val="F8F4E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0"/>
            <a:ext cx="50292" cy="2926080"/>
          </a:xfrm>
          <a:prstGeom prst="rect">
            <a:avLst/>
          </a:prstGeom>
          <a:solidFill>
            <a:srgbClr val="14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315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0" b="1">
                <a:solidFill>
                  <a:srgbClr val="231A0A"/>
                </a:solidFill>
                <a:latin typeface="Calibri"/>
              </a:defRPr>
            </a:pPr>
            <a:r>
              <a:t>LLM WIKI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6949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55442C"/>
                </a:solidFill>
                <a:latin typeface="Calibri"/>
              </a:defRPr>
            </a:pPr>
            <a:r>
              <a:t>Karpathy's Knowledge Architecture for AI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169164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31336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45AC8"/>
                </a:solidFill>
                <a:latin typeface="Calibri"/>
              </a:defRPr>
            </a:pPr>
            <a:r>
              <a:t>AI-maintained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3794760"/>
            <a:ext cx="169164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3831336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Human-curated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94760"/>
            <a:ext cx="169164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831336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784B"/>
                </a:solidFill>
                <a:latin typeface="Calibri"/>
              </a:defRPr>
            </a:pPr>
            <a:r>
              <a:t>Always 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1596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9563C"/>
                </a:solidFill>
                <a:latin typeface="Calibri"/>
              </a:defRPr>
            </a:pPr>
            <a:r>
              <a:t>Inspired by Andrej Karpathy  ·  gist.github.com/karpathy/442a6bf...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005840"/>
            <a:ext cx="3520440" cy="5440680"/>
          </a:xfrm>
          <a:prstGeom prst="rect">
            <a:avLst/>
          </a:prstGeom>
          <a:solidFill>
            <a:srgbClr val="F4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115568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442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554480"/>
            <a:ext cx="3154680" cy="1143000"/>
          </a:xfrm>
          <a:prstGeom prst="roundRect">
            <a:avLst/>
          </a:prstGeom>
          <a:solidFill>
            <a:srgbClr val="ECE4D4"/>
          </a:solidFill>
          <a:ln w="15240">
            <a:solidFill>
              <a:srgbClr val="A0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1554480"/>
            <a:ext cx="50292" cy="1143000"/>
          </a:xfrm>
          <a:prstGeom prst="rect">
            <a:avLst/>
          </a:prstGeom>
          <a:solidFill>
            <a:srgbClr val="A0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8" y="1645920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A04B00"/>
                </a:solidFill>
                <a:latin typeface="Calibri"/>
              </a:defRPr>
            </a:pPr>
            <a:r>
              <a:t>RAW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08483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5442C"/>
                </a:solidFill>
                <a:latin typeface="Calibri"/>
              </a:defRPr>
            </a:pPr>
            <a:r>
              <a:t>Papers · HTML · PPTX · DOCX · 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697480"/>
            <a:ext cx="2377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55442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3063240"/>
            <a:ext cx="3154680" cy="1143000"/>
          </a:xfrm>
          <a:prstGeom prst="roundRect">
            <a:avLst/>
          </a:prstGeom>
          <a:solidFill>
            <a:srgbClr val="ECE4D4"/>
          </a:solidFill>
          <a:ln w="15240"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3063240"/>
            <a:ext cx="50292" cy="1143000"/>
          </a:xfrm>
          <a:prstGeom prst="rect">
            <a:avLst/>
          </a:prstGeom>
          <a:solidFill>
            <a:srgbClr val="14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9368" y="3154680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45AC8"/>
                </a:solidFill>
                <a:latin typeface="Calibri"/>
              </a:defRPr>
            </a:pPr>
            <a:r>
              <a:t>WIKI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59359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5442C"/>
                </a:solidFill>
                <a:latin typeface="Calibri"/>
              </a:defRPr>
            </a:pPr>
            <a:r>
              <a:t>Entity pages · [[links]] ·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4206240"/>
            <a:ext cx="2377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55442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4572000"/>
            <a:ext cx="3154680" cy="1143000"/>
          </a:xfrm>
          <a:prstGeom prst="roundRect">
            <a:avLst/>
          </a:prstGeom>
          <a:solidFill>
            <a:srgbClr val="ECE4D4"/>
          </a:solidFill>
          <a:ln w="15240">
            <a:solidFill>
              <a:srgbClr val="6E2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4572000"/>
            <a:ext cx="50292" cy="1143000"/>
          </a:xfrm>
          <a:prstGeom prst="rect">
            <a:avLst/>
          </a:prstGeom>
          <a:solidFill>
            <a:srgbClr val="6E2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4663440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6E28C8"/>
                </a:solidFill>
                <a:latin typeface="Calibri"/>
              </a:defRPr>
            </a:pPr>
            <a:r>
              <a:t>SCHEMA /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510235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5442C"/>
                </a:solidFill>
                <a:latin typeface="Calibri"/>
              </a:defRPr>
            </a:pPr>
            <a:r>
              <a:t>CLAUDE.md · Conventions ·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31A0A"/>
                </a:solidFill>
                <a:latin typeface="Calibri"/>
              </a:defRPr>
            </a:pPr>
            <a:r>
              <a:t>The Knowledge Management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257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956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57800" cy="1207008"/>
          </a:xfrm>
          <a:prstGeom prst="roundRect">
            <a:avLst/>
          </a:prstGeom>
          <a:solidFill>
            <a:srgbClr val="ECE4D4"/>
          </a:solidFill>
          <a:ln w="889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7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31A0A"/>
                </a:solidFill>
                <a:latin typeface="Calibri"/>
              </a:defRPr>
            </a:pPr>
            <a:r>
              <a:t>Knowledge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442C"/>
                </a:solidFill>
                <a:latin typeface="Calibri"/>
              </a:defRPr>
            </a:pPr>
            <a:r>
              <a:t>Hundreds of papers, articles, and docs — impossible to track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82112"/>
            <a:ext cx="5257800" cy="1207008"/>
          </a:xfrm>
          <a:prstGeom prst="roundRect">
            <a:avLst/>
          </a:prstGeom>
          <a:solidFill>
            <a:srgbClr val="ECE4D4"/>
          </a:solidFill>
          <a:ln w="889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73552"/>
            <a:ext cx="507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31A0A"/>
                </a:solidFill>
                <a:latin typeface="Calibri"/>
              </a:defRPr>
            </a:pPr>
            <a:r>
              <a:t>Manual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417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442C"/>
                </a:solidFill>
                <a:latin typeface="Calibri"/>
              </a:defRPr>
            </a:pPr>
            <a:r>
              <a:t>Wikis die because nobody updates cross-references or fixes stale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35424"/>
            <a:ext cx="5257800" cy="1207008"/>
          </a:xfrm>
          <a:prstGeom prst="roundRect">
            <a:avLst/>
          </a:prstGeom>
          <a:solidFill>
            <a:srgbClr val="ECE4D4"/>
          </a:solidFill>
          <a:ln w="8890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26864"/>
            <a:ext cx="507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31A0A"/>
                </a:solidFill>
                <a:latin typeface="Calibri"/>
              </a:defRPr>
            </a:pPr>
            <a:r>
              <a:t>Scattered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442C"/>
                </a:solidFill>
                <a:latin typeface="Calibri"/>
              </a:defRPr>
            </a:pPr>
            <a:r>
              <a:t>Key ideas live in separate notebooks, tabs, and memory — never connected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257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9563C"/>
                </a:solidFill>
                <a:latin typeface="Calibri"/>
              </a:defRPr>
            </a:pPr>
            <a:r>
              <a:t>KARPATHY'S INSIGHT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5257800" cy="1737360"/>
          </a:xfrm>
          <a:prstGeom prst="roundRect">
            <a:avLst/>
          </a:prstGeom>
          <a:solidFill>
            <a:srgbClr val="ECE4D4"/>
          </a:solidFill>
          <a:ln w="19050">
            <a:solidFill>
              <a:srgbClr val="6E2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56816"/>
            <a:ext cx="49377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6E28C8"/>
                </a:solidFill>
                <a:latin typeface="Calibri"/>
              </a:defRPr>
            </a:pPr>
            <a:r>
              <a:t>"LLMs don't get bored.</a:t>
            </a:r>
            <a:br/>
            <a:r>
              <a:t>They don't forget to update a cross-reference."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5442C"/>
                </a:solidFill>
                <a:latin typeface="Calibri"/>
              </a:defRPr>
            </a:pPr>
            <a:r>
              <a:t>Three-layer model: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0292" cy="502920"/>
          </a:xfrm>
          <a:prstGeom prst="rect">
            <a:avLst/>
          </a:prstGeom>
          <a:solidFill>
            <a:srgbClr val="A0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42062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04B00"/>
                </a:solidFill>
                <a:latin typeface="Calibri"/>
              </a:defRPr>
            </a:pPr>
            <a:r>
              <a:t>Raw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5442C"/>
                </a:solidFill>
                <a:latin typeface="Calibri"/>
              </a:defRPr>
            </a:pPr>
            <a:r>
              <a:t>Immutable — curated by humans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73168"/>
            <a:ext cx="50292" cy="502920"/>
          </a:xfrm>
          <a:prstGeom prst="rect">
            <a:avLst/>
          </a:prstGeom>
          <a:solidFill>
            <a:srgbClr val="14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477316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45AC8"/>
                </a:solidFill>
                <a:latin typeface="Calibri"/>
              </a:defRPr>
            </a:pPr>
            <a:r>
              <a:t>Wiki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77316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5442C"/>
                </a:solidFill>
                <a:latin typeface="Calibri"/>
              </a:defRPr>
            </a:pPr>
            <a:r>
              <a:t>LLM-owned — maintained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340096"/>
            <a:ext cx="50292" cy="502920"/>
          </a:xfrm>
          <a:prstGeom prst="rect">
            <a:avLst/>
          </a:prstGeom>
          <a:solidFill>
            <a:srgbClr val="6E2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5340096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6E28C8"/>
                </a:solidFill>
                <a:latin typeface="Calibri"/>
              </a:defRPr>
            </a:pPr>
            <a:r>
              <a:t>Schema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34009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5442C"/>
                </a:solidFill>
                <a:latin typeface="Calibri"/>
              </a:defRPr>
            </a:pPr>
            <a:r>
              <a:t>Config — conventions &amp; 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035040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9563C"/>
                </a:solidFill>
                <a:latin typeface="Calibri"/>
              </a:defRPr>
            </a:pPr>
            <a:r>
              <a:t>Inspired by Vannevar Bush's Memex (1945) — the original vision for associative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31A0A"/>
                </a:solidFill>
                <a:latin typeface="Calibri"/>
              </a:defRPr>
            </a:pPr>
            <a:r>
              <a:t>Three Layers. Three Workflows.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463040"/>
            <a:ext cx="3401568" cy="2606040"/>
          </a:xfrm>
          <a:prstGeom prst="roundRect">
            <a:avLst/>
          </a:prstGeom>
          <a:solidFill>
            <a:srgbClr val="ECE4D4"/>
          </a:solidFill>
          <a:ln w="19050"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" y="1463040"/>
            <a:ext cx="3401568" cy="64008"/>
          </a:xfrm>
          <a:prstGeom prst="rect">
            <a:avLst/>
          </a:prstGeom>
          <a:solidFill>
            <a:srgbClr val="14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" y="1591056"/>
            <a:ext cx="340156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5AC8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2212848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442C"/>
                </a:solidFill>
                <a:latin typeface="Calibri"/>
              </a:defRPr>
            </a:pPr>
            <a:r>
              <a:t>Add a source → extract</a:t>
            </a:r>
            <a:br/>
            <a:r>
              <a:t>concepts → update pages</a:t>
            </a:r>
            <a:br/>
            <a:r>
              <a:t>→ add cross-references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8788" y="2468880"/>
            <a:ext cx="329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6956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692" y="1463040"/>
            <a:ext cx="3401568" cy="2606040"/>
          </a:xfrm>
          <a:prstGeom prst="roundRect">
            <a:avLst/>
          </a:prstGeom>
          <a:solidFill>
            <a:srgbClr val="ECE4D4"/>
          </a:solidFill>
          <a:ln w="1905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3692" y="1463040"/>
            <a:ext cx="3401568" cy="64008"/>
          </a:xfrm>
          <a:prstGeom prst="rect">
            <a:avLst/>
          </a:prstGeom>
          <a:solidFill>
            <a:srgbClr val="00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3692" y="1591056"/>
            <a:ext cx="340156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6E8C"/>
                </a:solidFill>
                <a:latin typeface="Calibri"/>
              </a:defRPr>
            </a:pPr>
            <a: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6572" y="2212848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442C"/>
                </a:solidFill>
                <a:latin typeface="Calibri"/>
              </a:defRPr>
            </a:pPr>
            <a:r>
              <a:t>Search relevant pages</a:t>
            </a:r>
            <a:br/>
            <a:r>
              <a:t>→ synthesize answer</a:t>
            </a:r>
            <a:br/>
            <a:r>
              <a:t>→ file new discoveries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0124" y="2468880"/>
            <a:ext cx="329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6956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5028" y="1463040"/>
            <a:ext cx="3401568" cy="2606040"/>
          </a:xfrm>
          <a:prstGeom prst="roundRect">
            <a:avLst/>
          </a:prstGeom>
          <a:solidFill>
            <a:srgbClr val="ECE4D4"/>
          </a:solidFill>
          <a:ln w="19050">
            <a:solidFill>
              <a:srgbClr val="0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5028" y="1463040"/>
            <a:ext cx="3401568" cy="64008"/>
          </a:xfrm>
          <a:prstGeom prst="rect">
            <a:avLst/>
          </a:prstGeom>
          <a:solidFill>
            <a:srgbClr val="00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5028" y="1591056"/>
            <a:ext cx="340156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784B"/>
                </a:solidFill>
                <a:latin typeface="Calibri"/>
              </a:defRPr>
            </a:pPr>
            <a:r>
              <a:t>LINT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8" y="2212848"/>
            <a:ext cx="30358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442C"/>
                </a:solidFill>
                <a:latin typeface="Calibri"/>
              </a:defRPr>
            </a:pPr>
            <a:r>
              <a:t>Find orphan pages, gaps,</a:t>
            </a:r>
            <a:br/>
            <a:r>
              <a:t>contradictions, and</a:t>
            </a:r>
            <a:br/>
            <a:r>
              <a:t>stale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9563C"/>
                </a:solidFill>
                <a:latin typeface="Calibri"/>
              </a:defRPr>
            </a:pPr>
            <a:r>
              <a:t>ENTITY PAGE FORMAT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1772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5429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461772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465429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61772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65429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61772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65429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Related Concepts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61772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65429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461772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465429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Contradictions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5780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9563C"/>
                </a:solidFill>
                <a:latin typeface="Calibri"/>
              </a:defRPr>
            </a:pPr>
            <a:r>
              <a:t>SOURCE FORMATS  (full text extraction)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2356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66013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784B"/>
                </a:solidFill>
                <a:latin typeface="Calibri"/>
              </a:defRPr>
            </a:pPr>
            <a:r>
              <a:t>PDF  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562356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23160" y="566013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784B"/>
                </a:solidFill>
                <a:latin typeface="Calibri"/>
              </a:defRPr>
            </a:pPr>
            <a:r>
              <a:t>TXT  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562356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566013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784B"/>
                </a:solidFill>
                <a:latin typeface="Calibri"/>
              </a:defRPr>
            </a:pPr>
            <a:r>
              <a:t>HTML  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562356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566013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PPTX  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562356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566013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DOCX  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5623560"/>
            <a:ext cx="1783080" cy="329184"/>
          </a:xfrm>
          <a:prstGeom prst="roundRect">
            <a:avLst/>
          </a:prstGeom>
          <a:solidFill>
            <a:srgbClr val="F4EEE2"/>
          </a:solidFill>
          <a:ln w="1016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5660136"/>
            <a:ext cx="1783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6E8C"/>
                </a:solidFill>
                <a:latin typeface="Calibri"/>
              </a:defRPr>
            </a:pPr>
            <a:r>
              <a:t>XLSX 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31A0A"/>
                </a:solidFill>
                <a:latin typeface="Calibri"/>
              </a:defRPr>
            </a:pPr>
            <a:r>
              <a:t>Works Where You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230368" cy="4069080"/>
          </a:xfrm>
          <a:prstGeom prst="roundRect">
            <a:avLst/>
          </a:prstGeom>
          <a:solidFill>
            <a:srgbClr val="ECE4D4"/>
          </a:solidFill>
          <a:ln w="19050">
            <a:solidFill>
              <a:srgbClr val="A0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230368" cy="64008"/>
          </a:xfrm>
          <a:prstGeom prst="rect">
            <a:avLst/>
          </a:prstGeom>
          <a:solidFill>
            <a:srgbClr val="A0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35608"/>
            <a:ext cx="52303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04B00"/>
                </a:solidFill>
                <a:latin typeface="Calibri"/>
              </a:defRPr>
            </a:pPr>
            <a:r>
              <a:t>CLAUDE CODE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A04B00"/>
                </a:solidFill>
                <a:latin typeface="Calibri"/>
              </a:defRPr>
            </a:pPr>
            <a:r>
              <a:t>WIKI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665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A04B00"/>
                </a:solidFill>
                <a:latin typeface="Courier New"/>
              </a:defRPr>
            </a:pPr>
            <a:r>
              <a:t>/orchestrate-wiki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0665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Full pipeline — parallel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6829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A04B00"/>
                </a:solidFill>
                <a:latin typeface="Courier New"/>
              </a:defRPr>
            </a:pPr>
            <a:r>
              <a:t>/compile-papers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6829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Extract concepts from /raw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A04B00"/>
                </a:solidFill>
                <a:latin typeface="Courier New"/>
              </a:defRPr>
            </a:pPr>
            <a:r>
              <a:t>/sync-wiki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7004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Incremental update from /raw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A04B00"/>
                </a:solidFill>
                <a:latin typeface="Courier New"/>
              </a:defRPr>
            </a:pPr>
            <a:r>
              <a:t>/audit-wiki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7180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Quality check — parallel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A04B00"/>
                </a:solidFill>
                <a:latin typeface="Courier New"/>
              </a:defRPr>
            </a:pPr>
            <a:r>
              <a:t>/reset-wiki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273552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Wipe wiki for a fresh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7530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A04B00"/>
                </a:solidFill>
                <a:latin typeface="Courier New"/>
              </a:defRPr>
            </a:pPr>
            <a:r>
              <a:t>/launch-wiki-ui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57530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Start Streamlit query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7705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A04B00"/>
                </a:solidFill>
                <a:latin typeface="Courier New"/>
              </a:defRPr>
            </a:pPr>
            <a:r>
              <a:t>/stop-wiki-ui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7705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Stop the running Streamlit app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15384"/>
            <a:ext cx="4956048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88536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E28C8"/>
                </a:solidFill>
                <a:latin typeface="Calibri"/>
              </a:defRPr>
            </a:pPr>
            <a:r>
              <a:t>REPO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8970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E28C8"/>
                </a:solidFill>
                <a:latin typeface="Courier New"/>
              </a:defRPr>
            </a:pPr>
            <a:r>
              <a:t>/sync-docs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48970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Sync README, GitHub Pages, sub-docs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9145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E28C8"/>
                </a:solidFill>
                <a:latin typeface="Courier New"/>
              </a:defRPr>
            </a:pPr>
            <a:r>
              <a:t>/run-maintenance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79145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Tests, skill check, git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932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E28C8"/>
                </a:solidFill>
                <a:latin typeface="Courier New"/>
              </a:defRPr>
            </a:pPr>
            <a:r>
              <a:t>/regenerate-presentation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0932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Rebuild demo videos and PPTX deck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371600"/>
            <a:ext cx="5230368" cy="4069080"/>
          </a:xfrm>
          <a:prstGeom prst="roundRect">
            <a:avLst/>
          </a:prstGeom>
          <a:solidFill>
            <a:srgbClr val="ECE4D4"/>
          </a:solidFill>
          <a:ln w="19050"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371600"/>
            <a:ext cx="5230368" cy="64008"/>
          </a:xfrm>
          <a:prstGeom prst="rect">
            <a:avLst/>
          </a:prstGeom>
          <a:solidFill>
            <a:srgbClr val="14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435608"/>
            <a:ext cx="52303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5AC8"/>
                </a:solidFill>
                <a:latin typeface="Calibri"/>
              </a:defRPr>
            </a:pPr>
            <a:r>
              <a:t>GITHUB COPILOT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18105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45AC8"/>
                </a:solidFill>
                <a:latin typeface="Calibri"/>
              </a:defRPr>
            </a:pPr>
            <a:r>
              <a:t>WIKI 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0665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45AC8"/>
                </a:solidFill>
                <a:latin typeface="Courier New"/>
              </a:defRPr>
            </a:pPr>
            <a:r>
              <a:t>Orchestrate Wiki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06654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Full pipeline — parallel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36829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45AC8"/>
                </a:solidFill>
                <a:latin typeface="Courier New"/>
              </a:defRPr>
            </a:pPr>
            <a:r>
              <a:t>Compile Papers to Wiki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236829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Extract from all /raw 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67004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45AC8"/>
                </a:solidFill>
                <a:latin typeface="Courier New"/>
              </a:defRPr>
            </a:pPr>
            <a:r>
              <a:t>Sync Wiki from Raw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67004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Incremental update from /raw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297180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45AC8"/>
                </a:solidFill>
                <a:latin typeface="Courier New"/>
              </a:defRPr>
            </a:pPr>
            <a:r>
              <a:t>Audit Wiki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297180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Quality check — parallel agents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273552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45AC8"/>
                </a:solidFill>
                <a:latin typeface="Courier New"/>
              </a:defRPr>
            </a:pPr>
            <a:r>
              <a:t>Reset Wiki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273552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Wipe wiki for a fresh start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57530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45AC8"/>
                </a:solidFill>
                <a:latin typeface="Courier New"/>
              </a:defRPr>
            </a:pPr>
            <a:r>
              <a:t>Launch Wiki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57530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Start Streamlit query interface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87705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45AC8"/>
                </a:solidFill>
                <a:latin typeface="Courier New"/>
              </a:defRPr>
            </a:pPr>
            <a:r>
              <a:t>Stop Wiki 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87705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Stop the running Streamlit 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4215384"/>
            <a:ext cx="4956048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288536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E28C8"/>
                </a:solidFill>
                <a:latin typeface="Calibri"/>
              </a:defRPr>
            </a:pPr>
            <a:r>
              <a:t>REPO MAINTENANCE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48970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E28C8"/>
                </a:solidFill>
                <a:latin typeface="Courier New"/>
              </a:defRPr>
            </a:pPr>
            <a:r>
              <a:t>Sync Docs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489704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Sync README and documentation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479145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E28C8"/>
                </a:solidFill>
                <a:latin typeface="Courier New"/>
              </a:defRPr>
            </a:pPr>
            <a:r>
              <a:t>Run Maintenance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4791456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Tests, skill check, git health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50932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6E28C8"/>
                </a:solidFill>
                <a:latin typeface="Courier New"/>
              </a:defRPr>
            </a:pPr>
            <a:r>
              <a:t>Regenerate Presentation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50932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Rebuild demo videos and PPTX deck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532120"/>
            <a:ext cx="11201400" cy="987552"/>
          </a:xfrm>
          <a:prstGeom prst="roundRect">
            <a:avLst/>
          </a:prstGeom>
          <a:solidFill>
            <a:srgbClr val="ECE4D4"/>
          </a:solidFill>
          <a:ln w="1524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5532120"/>
            <a:ext cx="64008" cy="987552"/>
          </a:xfrm>
          <a:prstGeom prst="rect">
            <a:avLst/>
          </a:prstGeom>
          <a:solidFill>
            <a:srgbClr val="00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562356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6E8C"/>
                </a:solidFill>
                <a:latin typeface="Calibri"/>
              </a:defRPr>
            </a:pPr>
            <a:r>
              <a:t>STREAMLIT QUERY UI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044184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442C"/>
                </a:solidFill>
                <a:latin typeface="Calibri"/>
              </a:defRPr>
            </a:pPr>
            <a:r>
              <a:t>Multi-provider · Grounded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0" y="5623560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55442C"/>
                </a:solidFill>
                <a:latin typeface="Calibri"/>
              </a:defRPr>
            </a:pPr>
            <a:r>
              <a:t>· Multi-provider Q&amp;A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6025896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Anthropic · OpenAI · Google · Mistral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7800" y="5623560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55442C"/>
                </a:solidFill>
                <a:latin typeface="Calibri"/>
              </a:defRPr>
            </a:pPr>
            <a:r>
              <a:t>· Wiki-grounded answers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6025896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No hallucination outside wiki content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5623560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55442C"/>
                </a:solidFill>
                <a:latin typeface="Calibri"/>
              </a:defRPr>
            </a:pPr>
            <a:r>
              <a:t>· API key + model validation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6025896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Session memory — never saved to disk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55480" y="5623560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55442C"/>
                </a:solidFill>
                <a:latin typeface="Calibri"/>
              </a:defRPr>
            </a:pPr>
            <a:r>
              <a:t>· Explicit 'not found'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6025896"/>
            <a:ext cx="2103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5442C"/>
                </a:solidFill>
                <a:latin typeface="Calibri"/>
              </a:defRPr>
            </a:pPr>
            <a:r>
              <a:t>Clear signal when topic is outside wiki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CF8F0"/>
            </a:gs>
            <a:gs pos="100000">
              <a:srgbClr val="FAF6E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31A0A"/>
                </a:solidFill>
                <a:latin typeface="Calibri"/>
              </a:defRPr>
            </a:pPr>
            <a:r>
              <a:t>See It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201400" cy="12700"/>
          </a:xfrm>
          <a:prstGeom prst="rect">
            <a:avLst/>
          </a:prstGeom>
          <a:solidFill>
            <a:srgbClr val="2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terminal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371600"/>
            <a:ext cx="534924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212079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04B00"/>
                </a:solidFill>
                <a:latin typeface="Calibri"/>
              </a:defRPr>
            </a:pPr>
            <a:r>
              <a:t>Terminal Skills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41263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9563C"/>
                </a:solidFill>
                <a:latin typeface="Calibri"/>
              </a:defRPr>
            </a:pPr>
            <a:r>
              <a:t>orchestrate-wiki (parallel agents)  ·  compile  ·  sync  ·  audit  ·  Copilot</a:t>
            </a:r>
          </a:p>
        </p:txBody>
      </p:sp>
      <p:pic>
        <p:nvPicPr>
          <p:cNvPr id="7" name="ui-dem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5080" y="1371600"/>
            <a:ext cx="534924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5212079"/>
            <a:ext cx="5349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6E8C"/>
                </a:solidFill>
                <a:latin typeface="Calibri"/>
              </a:defRPr>
            </a:pPr>
            <a:r>
              <a:t>Wiki Query UI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5541263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9563C"/>
                </a:solidFill>
                <a:latin typeface="Calibri"/>
              </a:defRPr>
            </a:pPr>
            <a:r>
              <a:t>settings  ·  happy-path query  ·  empty wiki  ·  not-found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5989320"/>
            <a:ext cx="1993392" cy="420624"/>
          </a:xfrm>
          <a:prstGeom prst="roundRect">
            <a:avLst/>
          </a:prstGeom>
          <a:solidFill>
            <a:srgbClr val="160828"/>
          </a:solidFill>
          <a:ln w="19050">
            <a:solidFill>
              <a:srgbClr val="6E2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6062472"/>
            <a:ext cx="19933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u="sng">
                <a:solidFill>
                  <a:srgbClr val="6E28C8"/>
                </a:solidFill>
                <a:latin typeface="Calibri"/>
                <a:hlinkClick r:id="rId7"/>
              </a:rPr>
              <a:t>↗  Karpathy's Gist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5989320"/>
            <a:ext cx="1444752" cy="420624"/>
          </a:xfrm>
          <a:prstGeom prst="roundRect">
            <a:avLst/>
          </a:prstGeom>
          <a:solidFill>
            <a:srgbClr val="00161C"/>
          </a:solidFill>
          <a:ln w="19050">
            <a:solidFill>
              <a:srgbClr val="00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6062472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u="sng">
                <a:solidFill>
                  <a:srgbClr val="006E8C"/>
                </a:solidFill>
                <a:latin typeface="Calibri"/>
                <a:hlinkClick r:id="rId8"/>
              </a:rPr>
              <a:t>↗  Git Repo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5989320"/>
            <a:ext cx="1444752" cy="420624"/>
          </a:xfrm>
          <a:prstGeom prst="roundRect">
            <a:avLst/>
          </a:prstGeom>
          <a:solidFill>
            <a:srgbClr val="00180F"/>
          </a:solidFill>
          <a:ln w="19050">
            <a:solidFill>
              <a:srgbClr val="007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6062472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u="sng">
                <a:solidFill>
                  <a:srgbClr val="00784B"/>
                </a:solidFill>
                <a:latin typeface="Calibri"/>
                <a:hlinkClick r:id="rId9"/>
              </a:rPr>
              <a:t>↗  Live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5989320"/>
            <a:ext cx="1737360" cy="420624"/>
          </a:xfrm>
          <a:prstGeom prst="roundRect">
            <a:avLst/>
          </a:prstGeom>
          <a:solidFill>
            <a:srgbClr val="041228"/>
          </a:solidFill>
          <a:ln w="19050"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606247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u="sng">
                <a:solidFill>
                  <a:srgbClr val="145AC8"/>
                </a:solidFill>
                <a:latin typeface="Calibri"/>
                <a:hlinkClick r:id="rId10"/>
              </a:rPr>
              <a:t>↗  LinkedIn Post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