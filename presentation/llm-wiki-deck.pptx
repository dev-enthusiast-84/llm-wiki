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1: TITLE</a:t>
            </a:r>
          </a:p>
          <a:p/>
          <a:p>
            <a:r>
              <a:t>Welcome everyone. Today I'm presenting LLM Wiki — a working implementation of Andrej Karpathy's vision for AI-powered knowledge management in research.</a:t>
            </a:r>
          </a:p>
          <a:p/>
          <a:p>
            <a:r>
              <a:t>Key message: instead of manually maintaining a research wiki (which humans inevitably abandon), we let AI do the bookkeeping while humans stay in control of what goes in.</a:t>
            </a:r>
          </a:p>
          <a:p/>
          <a:p>
            <a:r>
              <a:t>The system has three clean layers:</a:t>
            </a:r>
          </a:p>
          <a:p>
            <a:r>
              <a:t>  • Raw Sources — immutable papers, HTML pages, spreadsheets that you add; the AI never modifies these</a:t>
            </a:r>
          </a:p>
          <a:p>
            <a:r>
              <a:t>  • Wiki Layer — LLM-generated entity pages with cross-references; the AI owns and maintains this layer entirely</a:t>
            </a:r>
          </a:p>
          <a:p>
            <a:r>
              <a:t>  • Schema / Config — the CLAUDE.md file that tells the AI how to structure everything</a:t>
            </a:r>
          </a:p>
          <a:p/>
          <a:p>
            <a:r>
              <a:t>Over the next four slides we'll see why this matters, how it's built, and a live demo.</a:t>
            </a:r>
          </a:p>
          <a:p/>
          <a:p>
            <a:r>
              <a:t>Timing: ~1.5 minutes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2: THE PROBLEM</a:t>
            </a:r>
          </a:p>
          <a:p/>
          <a:p>
            <a:r>
              <a:t>Every researcher and engineer faces this problem: we read papers, take notes, bookmark articles — but the knowledge stays scattered. Traditional wikis exist but nobody maintains them because the maintenance burden exceeds the perceived value.</a:t>
            </a:r>
          </a:p>
          <a:p/>
          <a:p>
            <a:r>
              <a:t>Karpathy's key insight, inspired by Vannevar Bush's 1945 Memex paper, is simple: LLMs can be the maintenance layer. They don't tire of updating cross-references, don't forget to add citations, and can touch multiple files simultaneously.</a:t>
            </a:r>
          </a:p>
          <a:p/>
          <a:p>
            <a:r>
              <a:t>The three-layer model separates concerns cleanly:</a:t>
            </a:r>
          </a:p>
          <a:p>
            <a:r>
              <a:t>  • Raw Sources: humans curate what goes in — the AI never modifies these</a:t>
            </a:r>
          </a:p>
          <a:p>
            <a:r>
              <a:t>  • Wiki Layer: the AI owns and maintains this — entity pages, links, summaries</a:t>
            </a:r>
          </a:p>
          <a:p>
            <a:r>
              <a:t>  • Schema: the config file (CLAUDE.md) that tells the AI how to structure everything</a:t>
            </a:r>
          </a:p>
          <a:p/>
          <a:p>
            <a:r>
              <a:t>The result: a wiki that actually stays current because the maintenance cost drops to near zero.</a:t>
            </a:r>
          </a:p>
          <a:p/>
          <a:p>
            <a:r>
              <a:t>Timing: ~2 minutes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3: ARCHITECTURE</a:t>
            </a:r>
          </a:p>
          <a:p/>
          <a:p>
            <a:r>
              <a:t>The architecture is elegant. Three workflows the AI runs:</a:t>
            </a:r>
          </a:p>
          <a:p/>
          <a:p>
            <a:r>
              <a:t>INGEST: when you add a new source file, the AI reads it, extracts key concepts, creates or updates entity pages, and adds cross-references. Each concept gets its own markdown file.</a:t>
            </a:r>
          </a:p>
          <a:p/>
          <a:p>
            <a:r>
              <a:t>QUERY: when you ask a question via the UI, the AI searches the relevant wiki pages, synthesizes an answer with citations, and can file valuable new insights back into the wiki.</a:t>
            </a:r>
          </a:p>
          <a:p/>
          <a:p>
            <a:r>
              <a:t>LINT: periodically, the AI runs health checks — finding orphan pages (nothing links to them), missing pages (referenced with [[brackets]] but not created), contradictions between sources, and stale information.</a:t>
            </a:r>
          </a:p>
          <a:p/>
          <a:p>
            <a:r>
              <a:t>Entity pages follow a consistent six-section format:</a:t>
            </a:r>
          </a:p>
          <a:p>
            <a:r>
              <a:t>  Definition · Summary · Explanation · Related Concepts · Sources · Contradictions</a:t>
            </a:r>
          </a:p>
          <a:p/>
          <a:p>
            <a:r>
              <a:t>The Sources section always cites paper, author, and page/section. Contradictions explicitly document when different sources disagree — this helps researchers understand how the field has evolved.</a:t>
            </a:r>
          </a:p>
          <a:p/>
          <a:p>
            <a:r>
              <a:t>Six file formats are supported with full text extraction (PDF, TXT, HTML) or best-effort extraction (PPTX, DOCX, XLSX).</a:t>
            </a:r>
          </a:p>
          <a:p/>
          <a:p>
            <a:r>
              <a:t>Timing: ~2 minutes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4: IMPLEMENTATION</a:t>
            </a:r>
          </a:p>
          <a:p/>
          <a:p>
            <a:r>
              <a:t>The system works with both Claude Code CLI and GitHub Copilot Chat — use whichever you already have.</a:t>
            </a:r>
          </a:p>
          <a:p/>
          <a:p>
            <a:r>
              <a:t>Claude Code CLI (run in terminal with the `claude` command):</a:t>
            </a:r>
          </a:p>
          <a:p>
            <a:r>
              <a:t>• /compile-papers — core command; reads everything in /raw and creates wiki pages</a:t>
            </a:r>
          </a:p>
          <a:p>
            <a:r>
              <a:t>• /sync-wiki — use when you add new papers; detects what's new, updates without clobbering existing content</a:t>
            </a:r>
          </a:p>
          <a:p>
            <a:r>
              <a:t>• /audit-wiki — run every ~20 pages to catch quality issues</a:t>
            </a:r>
          </a:p>
          <a:p>
            <a:r>
              <a:t>• /reset-wiki — for starting fresh with a new topic area</a:t>
            </a:r>
          </a:p>
          <a:p>
            <a:r>
              <a:t>• /launch-wiki-ui — starts the Streamlit web app locally</a:t>
            </a:r>
          </a:p>
          <a:p>
            <a:r>
              <a:t>• /stop-wiki-ui — stops the running Streamlit process</a:t>
            </a:r>
          </a:p>
          <a:p>
            <a:r>
              <a:t>• /sync-docs — updates README, GitHub Pages, and sub-READMEs after code changes</a:t>
            </a:r>
          </a:p>
          <a:p>
            <a:r>
              <a:t>• /run-maintenance — runs tests, verifies all skills registered, checks wiki and git health</a:t>
            </a:r>
          </a:p>
          <a:p/>
          <a:p>
            <a:r>
              <a:t>GitHub Copilot Chat equivalents (identical commands, same skill files, different tool surface):</a:t>
            </a:r>
          </a:p>
          <a:p>
            <a:r>
              <a:t>• /Compile Papers to Wiki, /Sync Wiki from Raw, /Audit Wiki, /Reset Wiki</a:t>
            </a:r>
          </a:p>
          <a:p>
            <a:r>
              <a:t>• /Launch Wiki UI, /Stop Wiki UI, /Sync Docs, /Run Maintenance</a:t>
            </a:r>
          </a:p>
          <a:p/>
          <a:p>
            <a:r>
              <a:t>The Streamlit Query UI is a secure web app where you can:</a:t>
            </a:r>
          </a:p>
          <a:p>
            <a:r>
              <a:t>  • Enter your API key (never saved to disk — lives only in browser session memory)</a:t>
            </a:r>
          </a:p>
          <a:p>
            <a:r>
              <a:t>  • Browse all wiki pages and see what's covered</a:t>
            </a:r>
          </a:p>
          <a:p>
            <a:r>
              <a:t>  • Ask natural-language questions → Claude answers from wiki content only</a:t>
            </a:r>
          </a:p>
          <a:p>
            <a:r>
              <a:t>  • Track token usage and cache performance</a:t>
            </a:r>
          </a:p>
          <a:p/>
          <a:p>
            <a:r>
              <a:t>Crucially: if you ask about a topic not in the wiki, the UI returns an explicit "No information found" message with instructions to add sources. This is intentional — you always know the boundaries of your knowledge base.</a:t>
            </a:r>
          </a:p>
          <a:p/>
          <a:p>
            <a:r>
              <a:t>Timing: ~2 minutes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5: DEMO</a:t>
            </a:r>
          </a:p>
          <a:p/>
          <a:p>
            <a:r>
              <a:t>[CLICK EACH VIDEO TO PLAY — both are embedded in the presentation]</a:t>
            </a:r>
          </a:p>
          <a:p/>
          <a:p>
            <a:r>
              <a:t>TERMINAL DEMO covers:</a:t>
            </a:r>
          </a:p>
          <a:p>
            <a:r>
              <a:t>  1. Claude Code CLI startup</a:t>
            </a:r>
          </a:p>
          <a:p>
            <a:r>
              <a:t>  2. /compile-papers — scanning /raw, extracting concepts, creating 34 entity pages</a:t>
            </a:r>
          </a:p>
          <a:p>
            <a:r>
              <a:t>  3. /sync-wiki — detecting a new file, updating existing pages, creating new ones</a:t>
            </a:r>
          </a:p>
          <a:p>
            <a:r>
              <a:t>  4. /audit-wiki — finding 2 orphans, 3 missing pages, 1 contradiction</a:t>
            </a:r>
          </a:p>
          <a:p>
            <a:r>
              <a:t>  5. GitHub Copilot Chat equivalents (@workspace /Compile Papers to Wiki + /Launch Wiki UI)</a:t>
            </a:r>
          </a:p>
          <a:p/>
          <a:p>
            <a:r>
              <a:t>UI DEMO covers:</a:t>
            </a:r>
          </a:p>
          <a:p>
            <a:r>
              <a:t>  1. Settings screen — entering model ID and API key (happy path)</a:t>
            </a:r>
          </a:p>
          <a:p>
            <a:r>
              <a:t>  2. Settings error — invalid API key format is caught immediately</a:t>
            </a:r>
          </a:p>
          <a:p>
            <a:r>
              <a:t>  3. Empty wiki warning — clear instruction to run /compile-papers first</a:t>
            </a:r>
          </a:p>
          <a:p>
            <a:r>
              <a:t>  4. Happy path query — "What is self-attention?" → cited answer from wiki</a:t>
            </a:r>
          </a:p>
          <a:p>
            <a:r>
              <a:t>  5. Not-found error — "What is a diffusion model?" → explicit signal + how to add it</a:t>
            </a:r>
          </a:p>
          <a:p/>
          <a:p>
            <a:r>
              <a:t>Key talking points:</a:t>
            </a:r>
          </a:p>
          <a:p>
            <a:r>
              <a:t>  • Terminal: minutes from raw papers to 34 interconnected wiki pages</a:t>
            </a:r>
          </a:p>
          <a:p>
            <a:r>
              <a:t>  • UI: the "not found" response is a feature, not a bug — you always know your wiki's boundaries</a:t>
            </a:r>
          </a:p>
          <a:p>
            <a:r>
              <a:t>  • Both tools share the same wiki files — no duplication</a:t>
            </a:r>
          </a:p>
          <a:p>
            <a:r>
              <a:t>  • Every change is git-versioned — safe to collaborate</a:t>
            </a:r>
          </a:p>
          <a:p/>
          <a:p>
            <a:r>
              <a:t>After demo: "This is available today. Fork the repo, drop in your papers, run /compile-papers. Your wiki starts growing immediately."</a:t>
            </a:r>
          </a:p>
          <a:p/>
          <a:p>
            <a:r>
              <a:t>Timing: ~2 minutes + demo playback.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80C1C"/>
            </a:gs>
            <a:gs pos="100000">
              <a:srgbClr val="0C1637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691640"/>
            <a:ext cx="50292" cy="2926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7315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600" b="1">
                <a:solidFill>
                  <a:srgbClr val="FFFFFF"/>
                </a:solidFill>
                <a:latin typeface="Calibri"/>
              </a:defRPr>
            </a:pPr>
            <a:r>
              <a:t>LLM WIKI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26080"/>
            <a:ext cx="6949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C4D4EE"/>
                </a:solidFill>
                <a:latin typeface="Calibri"/>
              </a:defRPr>
            </a:pPr>
            <a:r>
              <a:t>Karpathy's Knowledge Architecture for AI Research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794760"/>
            <a:ext cx="169164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31336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AI-maintained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4600" y="3794760"/>
            <a:ext cx="169164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14600" y="3831336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Human-curated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794760"/>
            <a:ext cx="169164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3831336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0B981"/>
                </a:solidFill>
                <a:latin typeface="Calibri"/>
              </a:defRPr>
            </a:pPr>
            <a:r>
              <a:t>Always current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31596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982AC"/>
                </a:solidFill>
                <a:latin typeface="Calibri"/>
              </a:defRPr>
            </a:pPr>
            <a:r>
              <a:t>Inspired by Andrej Karpathy  ·  gist.github.com/karpathy/442a6bf...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005840"/>
            <a:ext cx="3520440" cy="5440680"/>
          </a:xfrm>
          <a:prstGeom prst="rect">
            <a:avLst/>
          </a:prstGeom>
          <a:solidFill>
            <a:srgbClr val="10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111556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982AC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49640" y="1554480"/>
            <a:ext cx="3154680" cy="1143000"/>
          </a:xfrm>
          <a:prstGeom prst="roundRect">
            <a:avLst/>
          </a:prstGeom>
          <a:solidFill>
            <a:srgbClr val="162448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49640" y="1554480"/>
            <a:ext cx="50292" cy="1143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59368" y="164592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RAW 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08483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Papers · HTML · PPTX · DOCX · XLSX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2697480"/>
            <a:ext cx="2377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982AC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3063240"/>
            <a:ext cx="3154680" cy="1143000"/>
          </a:xfrm>
          <a:prstGeom prst="roundRect">
            <a:avLst/>
          </a:prstGeom>
          <a:solidFill>
            <a:srgbClr val="162448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49640" y="3063240"/>
            <a:ext cx="50292" cy="1143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59368" y="315468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B82F6"/>
                </a:solidFill>
                <a:latin typeface="Calibri"/>
              </a:defRPr>
            </a:pPr>
            <a:r>
              <a:t>WIKI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359359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Entity pages · [[links]] · Citations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4206240"/>
            <a:ext cx="2377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982AC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4572000"/>
            <a:ext cx="3154680" cy="1143000"/>
          </a:xfrm>
          <a:prstGeom prst="roundRect">
            <a:avLst/>
          </a:prstGeom>
          <a:solidFill>
            <a:srgbClr val="162448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49640" y="4572000"/>
            <a:ext cx="50292" cy="1143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59368" y="466344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CF6"/>
                </a:solidFill>
                <a:latin typeface="Calibri"/>
              </a:defRPr>
            </a:pPr>
            <a:r>
              <a:t>SCHEMA / CONFIG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8" y="510235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CLAUDE.md · Conventions · Workflows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Knowledge Management Crisis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201400" cy="12700"/>
          </a:xfrm>
          <a:prstGeom prst="rect">
            <a:avLst/>
          </a:prstGeom>
          <a:solidFill>
            <a:srgbClr val="233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982AC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5257800" cy="1207008"/>
          </a:xfrm>
          <a:prstGeom prst="roundRect">
            <a:avLst/>
          </a:prstGeom>
          <a:solidFill>
            <a:srgbClr val="162448"/>
          </a:solidFill>
          <a:ln w="889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Knowledge Overload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40864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Hundreds of papers, articles, and docs — impossible to track manually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182112"/>
            <a:ext cx="5257800" cy="1207008"/>
          </a:xfrm>
          <a:prstGeom prst="roundRect">
            <a:avLst/>
          </a:prstGeom>
          <a:solidFill>
            <a:srgbClr val="162448"/>
          </a:solidFill>
          <a:ln w="889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Manual Maintenance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94176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Wikis die because nobody updates cross-references or fixes stale links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35424"/>
            <a:ext cx="5257800" cy="1207008"/>
          </a:xfrm>
          <a:prstGeom prst="roundRect">
            <a:avLst/>
          </a:prstGeom>
          <a:solidFill>
            <a:srgbClr val="162448"/>
          </a:solidFill>
          <a:ln w="889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626864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Scattered Insights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47488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Key ideas live in separate notebooks, tabs, and memory — never connected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37160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982AC"/>
                </a:solidFill>
                <a:latin typeface="Calibri"/>
              </a:defRPr>
            </a:pPr>
            <a:r>
              <a:t>KARPATHY'S INSIGHT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828800"/>
            <a:ext cx="5257800" cy="173736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956816"/>
            <a:ext cx="49377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Calibri"/>
              </a:defRPr>
            </a:pPr>
            <a:r>
              <a:t>"LLMs don't get bored.</a:t>
            </a:r>
            <a:br/>
            <a:r>
              <a:t>They don't forget to update a cross-reference."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49039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4D4EE"/>
                </a:solidFill>
                <a:latin typeface="Calibri"/>
              </a:defRPr>
            </a:pPr>
            <a:r>
              <a:t>Three-layer model: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206240"/>
            <a:ext cx="50292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8816" y="4206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Raw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2062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Immutable — curated by humans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773168"/>
            <a:ext cx="50292" cy="502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28816" y="477316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Wiki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77316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LLM-owned — maintained automatically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5340096"/>
            <a:ext cx="50292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534009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Calibri"/>
              </a:defRPr>
            </a:pPr>
            <a:r>
              <a:t>Schema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534009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Config — conventions &amp; workflows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603504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982AC"/>
                </a:solidFill>
                <a:latin typeface="Calibri"/>
              </a:defRPr>
            </a:pPr>
            <a:r>
              <a:t>Inspired by Vannevar Bush's Memex (1945) — the original vision for associative knowledge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Three Layers. Three Workflows.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201400" cy="12700"/>
          </a:xfrm>
          <a:prstGeom prst="rect">
            <a:avLst/>
          </a:prstGeom>
          <a:solidFill>
            <a:srgbClr val="233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463040"/>
            <a:ext cx="3401568" cy="260604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2356" y="1463040"/>
            <a:ext cx="340156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2356" y="1591056"/>
            <a:ext cx="34015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3B82F6"/>
                </a:solidFill>
                <a:latin typeface="Calibri"/>
              </a:defRPr>
            </a:pPr>
            <a:r>
              <a:t>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" y="2212848"/>
            <a:ext cx="303580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4D4EE"/>
                </a:solidFill>
                <a:latin typeface="Calibri"/>
              </a:defRPr>
            </a:pPr>
            <a:r>
              <a:t>Add a source → extract</a:t>
            </a:r>
            <a:br/>
            <a:r>
              <a:t>concepts → update pages</a:t>
            </a:r>
            <a:br/>
            <a:r>
              <a:t>→ add cross-references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18788" y="2468880"/>
            <a:ext cx="3291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982A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3692" y="1463040"/>
            <a:ext cx="3401568" cy="260604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93692" y="1463040"/>
            <a:ext cx="3401568" cy="64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692" y="1591056"/>
            <a:ext cx="34015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6B6D4"/>
                </a:solidFill>
                <a:latin typeface="Calibri"/>
              </a:defRPr>
            </a:pPr>
            <a:r>
              <a:t>QUERY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6572" y="2212848"/>
            <a:ext cx="303580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4D4EE"/>
                </a:solidFill>
                <a:latin typeface="Calibri"/>
              </a:defRPr>
            </a:pPr>
            <a:r>
              <a:t>Search relevant pages</a:t>
            </a:r>
            <a:br/>
            <a:r>
              <a:t>→ synthesize answer</a:t>
            </a:r>
            <a:br/>
            <a:r>
              <a:t>→ file new discoveries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50124" y="2468880"/>
            <a:ext cx="3291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982A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5028" y="1463040"/>
            <a:ext cx="3401568" cy="260604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5028" y="1463040"/>
            <a:ext cx="340156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5028" y="1591056"/>
            <a:ext cx="34015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0B981"/>
                </a:solidFill>
                <a:latin typeface="Calibri"/>
              </a:defRPr>
            </a:pPr>
            <a:r>
              <a:t>LINT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7908" y="2212848"/>
            <a:ext cx="303580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4D4EE"/>
                </a:solidFill>
                <a:latin typeface="Calibri"/>
              </a:defRPr>
            </a:pPr>
            <a:r>
              <a:t>Find orphan pages, gaps,</a:t>
            </a:r>
            <a:br/>
            <a:r>
              <a:t>contradictions, and</a:t>
            </a:r>
            <a:br/>
            <a:r>
              <a:t>stale information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251960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982AC"/>
                </a:solidFill>
                <a:latin typeface="Calibri"/>
              </a:defRPr>
            </a:pPr>
            <a:r>
              <a:t>ENTITY PAGE FORMAT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65429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Definition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2316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23160" y="465429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465429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465429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Related Concepts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8388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80" y="465429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Sources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0412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04120" y="465429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Contradictions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257800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982AC"/>
                </a:solidFill>
                <a:latin typeface="Calibri"/>
              </a:defRPr>
            </a:pPr>
            <a:r>
              <a:t>SOURCE FORMATS  (full text extraction)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66013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0B981"/>
                </a:solidFill>
                <a:latin typeface="Calibri"/>
              </a:defRPr>
            </a:pPr>
            <a:r>
              <a:t>PDF  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2316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23160" y="566013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0B981"/>
                </a:solidFill>
                <a:latin typeface="Calibri"/>
              </a:defRPr>
            </a:pPr>
            <a:r>
              <a:t>TXT  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4340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43400" y="566013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0B981"/>
                </a:solidFill>
                <a:latin typeface="Calibri"/>
              </a:defRPr>
            </a:pPr>
            <a:r>
              <a:t>HTML  ✓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3640" y="566013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PPTX  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8388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83880" y="566013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DOCX  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0412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04120" y="566013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XLSX  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Works Where You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201400" cy="12700"/>
          </a:xfrm>
          <a:prstGeom prst="rect">
            <a:avLst/>
          </a:prstGeom>
          <a:solidFill>
            <a:srgbClr val="233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5257800" cy="416052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25780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5257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  <a:latin typeface="Calibri"/>
              </a:defRPr>
            </a:pPr>
            <a:r>
              <a:t>CLAUDE CODE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29968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Courier New"/>
              </a:defRPr>
            </a:pPr>
            <a:r>
              <a:t>/compile-papers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2029968"/>
            <a:ext cx="2697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Extract concepts from all /raw 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Courier New"/>
              </a:defRPr>
            </a:pPr>
            <a:r>
              <a:t>/sync-wiki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2468880"/>
            <a:ext cx="2697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Incremental update from new 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07792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Courier New"/>
              </a:defRPr>
            </a:pPr>
            <a:r>
              <a:t>/audit-wiki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907792"/>
            <a:ext cx="2697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Quality check — orphans, contradictions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46704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Courier New"/>
              </a:defRPr>
            </a:pPr>
            <a:r>
              <a:t>/reset-wiki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3346704"/>
            <a:ext cx="2697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Wipe wiki for a fresh 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785616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Courier New"/>
              </a:defRPr>
            </a:pPr>
            <a:r>
              <a:t>/launch-wiki-ui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3785616"/>
            <a:ext cx="2697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Start Streamlit query interface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24528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Courier New"/>
              </a:defRPr>
            </a:pPr>
            <a:r>
              <a:t>/stop-wiki-ui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4224528"/>
            <a:ext cx="2697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Stop the running Streamlit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663440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Courier New"/>
              </a:defRPr>
            </a:pPr>
            <a:r>
              <a:t>/sync-docs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4663440"/>
            <a:ext cx="2697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Update README, GitHub Pages, sub-READMEs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102352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Courier New"/>
              </a:defRPr>
            </a:pPr>
            <a:r>
              <a:t>/run-maintenance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5102352"/>
            <a:ext cx="2697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Run tests, verify skills, check git health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1371600"/>
            <a:ext cx="5257800" cy="416052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1371600"/>
            <a:ext cx="5257800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463040"/>
            <a:ext cx="5257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B82F6"/>
                </a:solidFill>
                <a:latin typeface="Calibri"/>
              </a:defRPr>
            </a:pPr>
            <a:r>
              <a:t>GITHUB COPILOT 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2029968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B82F6"/>
                </a:solidFill>
                <a:latin typeface="Courier New"/>
              </a:defRPr>
            </a:pPr>
            <a:r>
              <a:t>/Compile Papers to Wiki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02996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Extract from all /raw sources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2468880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B82F6"/>
                </a:solidFill>
                <a:latin typeface="Courier New"/>
              </a:defRPr>
            </a:pPr>
            <a:r>
              <a:t>/Sync Wiki from Raw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468880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Incremental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90779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B82F6"/>
                </a:solidFill>
                <a:latin typeface="Courier New"/>
              </a:defRPr>
            </a:pPr>
            <a:r>
              <a:t>/Audit Wiki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2907792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Quality check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346704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B82F6"/>
                </a:solidFill>
                <a:latin typeface="Courier New"/>
              </a:defRPr>
            </a:pPr>
            <a:r>
              <a:t>/Reset Wiki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346704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Wipe wiki for a fresh start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3785616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B82F6"/>
                </a:solidFill>
                <a:latin typeface="Courier New"/>
              </a:defRPr>
            </a:pPr>
            <a:r>
              <a:t>/Launch Wiki UI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785616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Start Streamlit query interface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224528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B82F6"/>
                </a:solidFill>
                <a:latin typeface="Courier New"/>
              </a:defRPr>
            </a:pPr>
            <a:r>
              <a:t>/Stop Wiki UI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422452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Stop the running Streamlit app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663440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B82F6"/>
                </a:solidFill>
                <a:latin typeface="Courier New"/>
              </a:defRPr>
            </a:pPr>
            <a:r>
              <a:t>/Sync Docs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4663440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Update README and documentation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51023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B82F6"/>
                </a:solidFill>
                <a:latin typeface="Courier New"/>
              </a:defRPr>
            </a:pPr>
            <a:r>
              <a:t>/Run Maintenance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5102352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Run tests, verify skills, check git health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687568"/>
            <a:ext cx="11201400" cy="960120"/>
          </a:xfrm>
          <a:prstGeom prst="roundRect">
            <a:avLst/>
          </a:prstGeom>
          <a:solidFill>
            <a:srgbClr val="162448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7790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6B6D4"/>
                </a:solidFill>
                <a:latin typeface="Calibri"/>
              </a:defRPr>
            </a:pPr>
            <a:r>
              <a:t>STREAMLIT QUERY UI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577900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4D4EE"/>
                </a:solidFill>
                <a:latin typeface="Calibri"/>
              </a:defRPr>
            </a:pPr>
            <a:r>
              <a:t>· API key validation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19472" y="577900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4D4EE"/>
                </a:solidFill>
                <a:latin typeface="Calibri"/>
              </a:defRPr>
            </a:pPr>
            <a:r>
              <a:t>· Wiki page browser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38544" y="577900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4D4EE"/>
                </a:solidFill>
                <a:latin typeface="Calibri"/>
              </a:defRPr>
            </a:pPr>
            <a:r>
              <a:t>· Claude-powered Q&amp;A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57616" y="577900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4D4EE"/>
                </a:solidFill>
                <a:latin typeface="Calibri"/>
              </a:defRPr>
            </a:pPr>
            <a:r>
              <a:t>· Token + cache metrics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76688" y="577900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4D4EE"/>
                </a:solidFill>
                <a:latin typeface="Calibri"/>
              </a:defRPr>
            </a:pPr>
            <a:r>
              <a:t>· Secure (session memory)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95760" y="577900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4D4EE"/>
                </a:solidFill>
                <a:latin typeface="Calibri"/>
              </a:defRPr>
            </a:pPr>
            <a:r>
              <a:t>· Explicit 'not found' responses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80C1C"/>
            </a:gs>
            <a:gs pos="100000">
              <a:srgbClr val="050A20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See It In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201400" cy="12700"/>
          </a:xfrm>
          <a:prstGeom prst="rect">
            <a:avLst/>
          </a:prstGeom>
          <a:solidFill>
            <a:srgbClr val="233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terminal-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371600"/>
            <a:ext cx="5349240" cy="37490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212079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  <a:latin typeface="Calibri"/>
              </a:defRPr>
            </a:pPr>
            <a:r>
              <a:t>Terminal Skills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541263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982AC"/>
                </a:solidFill>
                <a:latin typeface="Calibri"/>
              </a:defRPr>
            </a:pPr>
            <a:r>
              <a:t>compile-papers  ·  sync-wiki  ·  audit-wiki  ·  Copilot (compile + launch-ui)</a:t>
            </a:r>
          </a:p>
        </p:txBody>
      </p:sp>
      <p:pic>
        <p:nvPicPr>
          <p:cNvPr id="7" name="ui-demo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355080" y="1371600"/>
            <a:ext cx="5349240" cy="374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5212079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6B6D4"/>
                </a:solidFill>
                <a:latin typeface="Calibri"/>
              </a:defRPr>
            </a:pPr>
            <a:r>
              <a:t>Wiki Query UI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5541263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982AC"/>
                </a:solidFill>
                <a:latin typeface="Calibri"/>
              </a:defRPr>
            </a:pPr>
            <a:r>
              <a:t>settings  ·  happy-path query  ·  empty wiki  ·  not-found error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